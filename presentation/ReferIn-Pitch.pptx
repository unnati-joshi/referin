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E650C9-72D0-461D-B49B-16B12620B4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97608E-1E3C-4FD9-95FF-E02BE9D9B0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CBE951B-EF30-4DB8-A1E9-4032E54F3C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08B34ED-F86D-4D38-B415-F3D898990E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648B4B4-8620-48A4-BBD9-4C8197610B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0A46348-23EA-4D13-B64A-3A082063BA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D0640E7-D587-4E3B-8A2F-4B1AB4CBBF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E2E8F36-95F7-40EC-AB76-B4225EAA1E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D24716F-35EA-4541-BC2F-F7F4561DB1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CC5BAE4-B9A5-4FAC-A45A-24E74FDB0A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72B79CAE-A777-44EC-AD24-B6FADE6732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2DB200-FB91-4C57-BC32-58BF06DAFE5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0BB7EB-6826-4EDB-B1BB-3056AC6C61C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F8D058-4D7B-461C-A14A-7F23227CDB5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382FF4-6A83-45EE-BE99-DDD555D7371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6504B6-0962-4685-89A9-3334FADE968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86381F-CBF3-4B27-B90A-359304B98DA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86347A-343B-4241-92B6-D6CFD084FF1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11C9B7-7F42-4020-AF22-9274E8E4265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F31BF1-C697-4A72-8F18-FBB66F80D54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18A2F0-54DE-495E-AC19-1F0DE08622D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263542-5565-4C34-9747-E194F384189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www.linkedin.com/pulse/new-survey-reveals-85-all-jobs-filled-via-networking-lou-adler" TargetMode="External"/><Relationship Id="rId3" Type="http://schemas.openxmlformats.org/officeDocument/2006/relationships/hyperlink" Target="https://www.jobvite.com/blog/4-reasons-to-invest-in-employee-referrals/" TargetMode="External"/><Relationship Id="rId4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53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6035040"/>
            <a:ext cx="12191400" cy="822600"/>
          </a:xfrm>
          <a:prstGeom prst="rect">
            <a:avLst/>
          </a:prstGeom>
          <a:solidFill>
            <a:srgbClr val="104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8" name="Picture 2" descr="logo_light.png"/>
          <p:cNvPicPr/>
          <p:nvPr/>
        </p:nvPicPr>
        <p:blipFill>
          <a:blip r:embed="rId1"/>
          <a:stretch/>
        </p:blipFill>
        <p:spPr>
          <a:xfrm>
            <a:off x="640080" y="50292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69" name="TextBox 3"/>
          <p:cNvSpPr/>
          <p:nvPr/>
        </p:nvSpPr>
        <p:spPr>
          <a:xfrm>
            <a:off x="1225440" y="570960"/>
            <a:ext cx="411444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f2eee6"/>
                </a:solidFill>
                <a:latin typeface="Georgia"/>
              </a:rPr>
              <a:t>Refer</a:t>
            </a:r>
            <a:r>
              <a:rPr b="1" lang="en-US" sz="2100" spc="-1" strike="noStrike">
                <a:solidFill>
                  <a:srgbClr val="0e9384"/>
                </a:solidFill>
                <a:latin typeface="Georgia"/>
              </a:rPr>
              <a:t>In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7894080" y="567000"/>
            <a:ext cx="39315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  <a:spcAft>
                <a:spcPts val="201"/>
              </a:spcAft>
            </a:pPr>
            <a:r>
              <a:rPr b="1" lang="en-US" sz="1050" spc="-1" strike="noStrike">
                <a:solidFill>
                  <a:srgbClr val="0e9384"/>
                </a:solidFill>
                <a:latin typeface="Consolas"/>
              </a:rPr>
              <a:t>PROJECT REFERIN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r" defTabSz="457200">
              <a:lnSpc>
                <a:spcPct val="105000"/>
              </a:lnSpc>
            </a:pPr>
            <a:r>
              <a:rPr b="0" lang="en-US" sz="1050" spc="-1" strike="noStrike">
                <a:solidFill>
                  <a:srgbClr val="9fb4b2"/>
                </a:solidFill>
                <a:latin typeface="Consolas"/>
              </a:rPr>
              <a:t>TEAM ORI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658440" y="960120"/>
            <a:ext cx="548604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00" spc="-1" strike="noStrike">
                <a:solidFill>
                  <a:srgbClr val="0e9384"/>
                </a:solidFill>
                <a:latin typeface="Consolas"/>
              </a:rPr>
              <a:t>FIND THE PERSON WHO CAN REFER YOU IN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640080" y="2103120"/>
            <a:ext cx="10881000" cy="15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98000"/>
              </a:lnSpc>
            </a:pPr>
            <a:r>
              <a:rPr b="1" lang="en-US" sz="5200" spc="-1" strike="noStrike">
                <a:solidFill>
                  <a:srgbClr val="f2eee6"/>
                </a:solidFill>
                <a:latin typeface="Georgia"/>
              </a:rPr>
              <a:t>80% of Jobs Are Filled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98000"/>
              </a:lnSpc>
            </a:pPr>
            <a:r>
              <a:rPr b="1" lang="en-US" sz="5200" spc="-1" strike="noStrike">
                <a:solidFill>
                  <a:srgbClr val="0e9384"/>
                </a:solidFill>
                <a:latin typeface="Georgia"/>
              </a:rPr>
              <a:t>Through Referrals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658440" y="4434840"/>
            <a:ext cx="960084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c7d6d4"/>
                </a:solidFill>
                <a:latin typeface="Calibri"/>
              </a:rPr>
              <a:t>If you don't already know someone inside, you are applying through the slowest door. ReferIn gets you the warm intro.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Rounded Rectangle 8"/>
          <p:cNvSpPr/>
          <p:nvPr/>
        </p:nvSpPr>
        <p:spPr>
          <a:xfrm>
            <a:off x="658440" y="5212080"/>
            <a:ext cx="3520080" cy="731160"/>
          </a:xfrm>
          <a:prstGeom prst="roundRect">
            <a:avLst>
              <a:gd name="adj" fmla="val 16667"/>
            </a:avLst>
          </a:prstGeom>
          <a:solidFill>
            <a:srgbClr val="104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feae8"/>
                </a:solidFill>
                <a:latin typeface="Calibri"/>
              </a:rPr>
              <a:t>About 4x more likely to get an offer when referred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Rounded Rectangle 9"/>
          <p:cNvSpPr/>
          <p:nvPr/>
        </p:nvSpPr>
        <p:spPr>
          <a:xfrm>
            <a:off x="4334400" y="5212080"/>
            <a:ext cx="3520080" cy="731160"/>
          </a:xfrm>
          <a:prstGeom prst="roundRect">
            <a:avLst>
              <a:gd name="adj" fmla="val 16667"/>
            </a:avLst>
          </a:prstGeom>
          <a:solidFill>
            <a:srgbClr val="104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feae8"/>
                </a:solidFill>
                <a:latin typeface="Calibri"/>
              </a:rPr>
              <a:t>Most applicants have no insider to ask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ounded Rectangle 10"/>
          <p:cNvSpPr/>
          <p:nvPr/>
        </p:nvSpPr>
        <p:spPr>
          <a:xfrm>
            <a:off x="8010000" y="5212080"/>
            <a:ext cx="3520080" cy="731160"/>
          </a:xfrm>
          <a:prstGeom prst="roundRect">
            <a:avLst>
              <a:gd name="adj" fmla="val 16667"/>
            </a:avLst>
          </a:prstGeom>
          <a:solidFill>
            <a:srgbClr val="104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dfeae8"/>
                </a:solidFill>
                <a:latin typeface="Calibri"/>
              </a:rPr>
              <a:t>ReferIn finds the right one in seconds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658440" y="6263640"/>
            <a:ext cx="1078956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0" lang="en-US" sz="850" spc="-1" strike="noStrike">
                <a:solidFill>
                  <a:srgbClr val="9fb4b2"/>
                </a:solidFill>
                <a:latin typeface="Consolas"/>
              </a:rPr>
              <a:t>Sources: 85% of roles filled via networking, Lou Adler, </a:t>
            </a:r>
            <a:r>
              <a:rPr b="0" lang="en-US" sz="850" spc="-1" strike="noStrike" u="sng">
                <a:solidFill>
                  <a:srgbClr val="0000ff"/>
                </a:solidFill>
                <a:uFillTx/>
                <a:latin typeface="Consolas"/>
                <a:hlinkClick r:id="rId2"/>
              </a:rPr>
              <a:t>LinkedIn (2016)</a:t>
            </a:r>
            <a:r>
              <a:rPr b="0" lang="en-US" sz="850" spc="-1" strike="noStrike">
                <a:solidFill>
                  <a:srgbClr val="9fb4b2"/>
                </a:solidFill>
                <a:latin typeface="Consolas"/>
              </a:rPr>
              <a:t>.  Referred candidates about 4x more likely to get an offer, </a:t>
            </a:r>
            <a:r>
              <a:rPr b="0" lang="en-US" sz="850" spc="-1" strike="noStrike" u="sng">
                <a:solidFill>
                  <a:srgbClr val="0000ff"/>
                </a:solidFill>
                <a:uFillTx/>
                <a:latin typeface="Consolas"/>
                <a:hlinkClick r:id="rId3"/>
              </a:rPr>
              <a:t>Jobvite</a:t>
            </a:r>
            <a:r>
              <a:rPr b="0" lang="en-US" sz="850" spc="-1" strike="noStrike">
                <a:solidFill>
                  <a:srgbClr val="9fb4b2"/>
                </a:solidFill>
                <a:latin typeface="Consolas"/>
              </a:rPr>
              <a:t>.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11185920" y="6355080"/>
            <a:ext cx="6397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f2eee6"/>
                </a:solidFill>
                <a:latin typeface="Consolas"/>
              </a:rPr>
              <a:t>01 / 16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c055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0" name="Picture 2" descr="logo_petrol.png"/>
          <p:cNvPicPr/>
          <p:nvPr/>
        </p:nvPicPr>
        <p:blipFill>
          <a:blip r:embed="rId1"/>
          <a:stretch/>
        </p:blipFill>
        <p:spPr>
          <a:xfrm>
            <a:off x="502920" y="41148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81" name="TextBox 3"/>
          <p:cNvSpPr/>
          <p:nvPr/>
        </p:nvSpPr>
        <p:spPr>
          <a:xfrm>
            <a:off x="941760" y="452160"/>
            <a:ext cx="41144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5535f"/>
                </a:solidFill>
                <a:latin typeface="Georgia"/>
              </a:rPr>
              <a:t>Refer</a:t>
            </a:r>
            <a:r>
              <a:rPr b="1" lang="en-US" sz="1500" spc="-1" strike="noStrike">
                <a:solidFill>
                  <a:srgbClr val="0e9384"/>
                </a:solidFill>
                <a:latin typeface="Georgia"/>
              </a:rPr>
              <a:t>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548640" y="1051560"/>
            <a:ext cx="548604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00" spc="-1" strike="noStrike">
                <a:solidFill>
                  <a:srgbClr val="c0552a"/>
                </a:solidFill>
                <a:latin typeface="Consolas"/>
              </a:rPr>
              <a:t>THE PROBLEM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548640" y="1417320"/>
            <a:ext cx="640044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3400" spc="-1" strike="noStrike">
                <a:solidFill>
                  <a:srgbClr val="15535f"/>
                </a:solidFill>
                <a:latin typeface="Georgia"/>
              </a:rPr>
              <a:t>Cold Applications Disappear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1550" spc="-1" strike="noStrike">
                <a:solidFill>
                  <a:srgbClr val="5e6b6c"/>
                </a:solidFill>
                <a:latin typeface="Calibri"/>
              </a:rPr>
              <a:t>Everyone knows referrals work. Actually getting one is the hard part.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ounded Rectangle 6"/>
          <p:cNvSpPr/>
          <p:nvPr/>
        </p:nvSpPr>
        <p:spPr>
          <a:xfrm>
            <a:off x="548640" y="3749040"/>
            <a:ext cx="3611520" cy="2377080"/>
          </a:xfrm>
          <a:prstGeom prst="roundRect">
            <a:avLst>
              <a:gd name="adj" fmla="val 16667"/>
            </a:avLst>
          </a:prstGeom>
          <a:solidFill>
            <a:srgbClr val="fbf8f3"/>
          </a:solidFill>
          <a:ln w="12700">
            <a:solidFill>
              <a:srgbClr val="ddd6c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Rounded Rectangle 7"/>
          <p:cNvSpPr/>
          <p:nvPr/>
        </p:nvSpPr>
        <p:spPr>
          <a:xfrm>
            <a:off x="804600" y="40233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c055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f7f3ec"/>
                </a:solidFill>
                <a:latin typeface="Georgia"/>
              </a:rPr>
              <a:t>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Box 8"/>
          <p:cNvSpPr/>
          <p:nvPr/>
        </p:nvSpPr>
        <p:spPr>
          <a:xfrm>
            <a:off x="822960" y="4709160"/>
            <a:ext cx="310860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1450" spc="-1" strike="noStrike">
                <a:solidFill>
                  <a:srgbClr val="15535f"/>
                </a:solidFill>
                <a:latin typeface="Calibri"/>
              </a:rPr>
              <a:t>Finding the right insider is manual and slow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5e6b6c"/>
                </a:solidFill>
                <a:latin typeface="Calibri"/>
              </a:rPr>
              <a:t>Hundreds of unfiltered profiles, no time to read them.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ounded Rectangle 9"/>
          <p:cNvSpPr/>
          <p:nvPr/>
        </p:nvSpPr>
        <p:spPr>
          <a:xfrm>
            <a:off x="4316040" y="3749040"/>
            <a:ext cx="3611520" cy="2377080"/>
          </a:xfrm>
          <a:prstGeom prst="roundRect">
            <a:avLst>
              <a:gd name="adj" fmla="val 16667"/>
            </a:avLst>
          </a:prstGeom>
          <a:solidFill>
            <a:srgbClr val="fbf8f3"/>
          </a:solidFill>
          <a:ln w="12700">
            <a:solidFill>
              <a:srgbClr val="ddd6c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Rounded Rectangle 10"/>
          <p:cNvSpPr/>
          <p:nvPr/>
        </p:nvSpPr>
        <p:spPr>
          <a:xfrm>
            <a:off x="4572000" y="40233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c055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f7f3ec"/>
                </a:solidFill>
                <a:latin typeface="Georgia"/>
              </a:rPr>
              <a:t>2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Box 11"/>
          <p:cNvSpPr/>
          <p:nvPr/>
        </p:nvSpPr>
        <p:spPr>
          <a:xfrm>
            <a:off x="4590360" y="4709160"/>
            <a:ext cx="3108600" cy="7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1450" spc="-1" strike="noStrike">
                <a:solidFill>
                  <a:srgbClr val="15535f"/>
                </a:solidFill>
                <a:latin typeface="Calibri"/>
              </a:rPr>
              <a:t>No signal for who actually fits your background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5e6b6c"/>
                </a:solidFill>
                <a:latin typeface="Calibri"/>
              </a:rPr>
              <a:t>Follower counts are not fit. You are guessing.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ounded Rectangle 12"/>
          <p:cNvSpPr/>
          <p:nvPr/>
        </p:nvSpPr>
        <p:spPr>
          <a:xfrm>
            <a:off x="8083440" y="3749040"/>
            <a:ext cx="3611520" cy="2377080"/>
          </a:xfrm>
          <a:prstGeom prst="roundRect">
            <a:avLst>
              <a:gd name="adj" fmla="val 16667"/>
            </a:avLst>
          </a:prstGeom>
          <a:solidFill>
            <a:srgbClr val="fbf8f3"/>
          </a:solidFill>
          <a:ln w="12700">
            <a:solidFill>
              <a:srgbClr val="ddd6c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Rounded Rectangle 13"/>
          <p:cNvSpPr/>
          <p:nvPr/>
        </p:nvSpPr>
        <p:spPr>
          <a:xfrm>
            <a:off x="8339400" y="40233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c055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5000"/>
              </a:lnSpc>
            </a:pPr>
            <a:r>
              <a:rPr b="1" lang="en-US" sz="1600" spc="-1" strike="noStrike">
                <a:solidFill>
                  <a:srgbClr val="f7f3ec"/>
                </a:solidFill>
                <a:latin typeface="Georgia"/>
              </a:rPr>
              <a:t>3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Box 14"/>
          <p:cNvSpPr/>
          <p:nvPr/>
        </p:nvSpPr>
        <p:spPr>
          <a:xfrm>
            <a:off x="8357760" y="4709160"/>
            <a:ext cx="3108600" cy="7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1450" spc="-1" strike="noStrike">
                <a:solidFill>
                  <a:srgbClr val="15535f"/>
                </a:solidFill>
                <a:latin typeface="Calibri"/>
              </a:rPr>
              <a:t>People burn goodwill messaging the wrong people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5e6b6c"/>
                </a:solidFill>
                <a:latin typeface="Calibri"/>
              </a:rPr>
              <a:t>One bad cold ask and the door closes for good.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15"/>
          <p:cNvSpPr/>
          <p:nvPr/>
        </p:nvSpPr>
        <p:spPr>
          <a:xfrm>
            <a:off x="11185920" y="6355080"/>
            <a:ext cx="6397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e6b6c"/>
                </a:solidFill>
                <a:latin typeface="Consolas"/>
              </a:rPr>
              <a:t>02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553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5" name="Picture 2" descr="logo_petrol.png"/>
          <p:cNvPicPr/>
          <p:nvPr/>
        </p:nvPicPr>
        <p:blipFill>
          <a:blip r:embed="rId1"/>
          <a:stretch/>
        </p:blipFill>
        <p:spPr>
          <a:xfrm>
            <a:off x="502920" y="41148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96" name="TextBox 3"/>
          <p:cNvSpPr/>
          <p:nvPr/>
        </p:nvSpPr>
        <p:spPr>
          <a:xfrm>
            <a:off x="941760" y="452160"/>
            <a:ext cx="41144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5535f"/>
                </a:solidFill>
                <a:latin typeface="Georgia"/>
              </a:rPr>
              <a:t>Refer</a:t>
            </a:r>
            <a:r>
              <a:rPr b="1" lang="en-US" sz="1500" spc="-1" strike="noStrike">
                <a:solidFill>
                  <a:srgbClr val="0e9384"/>
                </a:solidFill>
                <a:latin typeface="Georgia"/>
              </a:rPr>
              <a:t>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548640" y="1051560"/>
            <a:ext cx="548604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00" spc="-1" strike="noStrike">
                <a:solidFill>
                  <a:srgbClr val="0e9384"/>
                </a:solidFill>
                <a:latin typeface="Consolas"/>
              </a:rPr>
              <a:t>THE SOLUTION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5"/>
          <p:cNvSpPr/>
          <p:nvPr/>
        </p:nvSpPr>
        <p:spPr>
          <a:xfrm>
            <a:off x="548640" y="1371600"/>
            <a:ext cx="539460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3100" spc="-1" strike="noStrike">
                <a:solidFill>
                  <a:srgbClr val="15535f"/>
                </a:solidFill>
                <a:latin typeface="Georgia"/>
              </a:rPr>
              <a:t>Paste a Job, Meet Your Referrer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400"/>
              </a:spcAft>
            </a:pPr>
            <a:r>
              <a:rPr b="0" lang="en-US" sz="1450" spc="-1" strike="noStrike">
                <a:solidFill>
                  <a:srgbClr val="5e6b6c"/>
                </a:solidFill>
                <a:latin typeface="Calibri"/>
              </a:rPr>
              <a:t>ReferIn turns any job posting into a ranked shortlist of people who can refer you, with the message already written.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6"/>
          <p:cNvSpPr/>
          <p:nvPr/>
        </p:nvSpPr>
        <p:spPr>
          <a:xfrm>
            <a:off x="548640" y="4160520"/>
            <a:ext cx="544032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Ranked insiders in seconds from a pasted job description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Scored by real fit, not follower counts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A tailored intro draft, ready to send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ectangle 7"/>
          <p:cNvSpPr/>
          <p:nvPr/>
        </p:nvSpPr>
        <p:spPr>
          <a:xfrm>
            <a:off x="6364080" y="2158560"/>
            <a:ext cx="5440320" cy="3400200"/>
          </a:xfrm>
          <a:prstGeom prst="rect">
            <a:avLst/>
          </a:prstGeom>
          <a:solidFill>
            <a:srgbClr val="e6df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1" name="Picture 8" descr="01-landing.png"/>
          <p:cNvPicPr/>
          <p:nvPr/>
        </p:nvPicPr>
        <p:blipFill>
          <a:blip r:embed="rId2"/>
          <a:stretch/>
        </p:blipFill>
        <p:spPr>
          <a:xfrm>
            <a:off x="6309360" y="2094480"/>
            <a:ext cx="5440320" cy="3400200"/>
          </a:xfrm>
          <a:prstGeom prst="rect">
            <a:avLst/>
          </a:prstGeom>
          <a:ln w="12700">
            <a:solidFill>
              <a:srgbClr val="ddd6c8"/>
            </a:solidFill>
            <a:round/>
          </a:ln>
        </p:spPr>
      </p:pic>
      <p:sp>
        <p:nvSpPr>
          <p:cNvPr id="102" name="TextBox 9"/>
          <p:cNvSpPr/>
          <p:nvPr/>
        </p:nvSpPr>
        <p:spPr>
          <a:xfrm>
            <a:off x="11185920" y="6355080"/>
            <a:ext cx="6397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e6b6c"/>
                </a:solidFill>
                <a:latin typeface="Consolas"/>
              </a:rPr>
              <a:t>03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553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4" name="Picture 2" descr="logo_petrol.png"/>
          <p:cNvPicPr/>
          <p:nvPr/>
        </p:nvPicPr>
        <p:blipFill>
          <a:blip r:embed="rId1"/>
          <a:stretch/>
        </p:blipFill>
        <p:spPr>
          <a:xfrm>
            <a:off x="502920" y="41148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05" name="TextBox 3"/>
          <p:cNvSpPr/>
          <p:nvPr/>
        </p:nvSpPr>
        <p:spPr>
          <a:xfrm>
            <a:off x="941760" y="452160"/>
            <a:ext cx="41144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5535f"/>
                </a:solidFill>
                <a:latin typeface="Georgia"/>
              </a:rPr>
              <a:t>Refer</a:t>
            </a:r>
            <a:r>
              <a:rPr b="1" lang="en-US" sz="1500" spc="-1" strike="noStrike">
                <a:solidFill>
                  <a:srgbClr val="0e9384"/>
                </a:solidFill>
                <a:latin typeface="Georgia"/>
              </a:rPr>
              <a:t>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4"/>
          <p:cNvSpPr/>
          <p:nvPr/>
        </p:nvSpPr>
        <p:spPr>
          <a:xfrm>
            <a:off x="548640" y="1051560"/>
            <a:ext cx="548604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00" spc="-1" strike="noStrike">
                <a:solidFill>
                  <a:srgbClr val="0e9384"/>
                </a:solidFill>
                <a:latin typeface="Consolas"/>
              </a:rPr>
              <a:t>EFFORTLESS SEARCH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5"/>
          <p:cNvSpPr/>
          <p:nvPr/>
        </p:nvSpPr>
        <p:spPr>
          <a:xfrm>
            <a:off x="548640" y="1371600"/>
            <a:ext cx="5394600" cy="10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3100" spc="-1" strike="noStrike">
                <a:solidFill>
                  <a:srgbClr val="15535f"/>
                </a:solidFill>
                <a:latin typeface="Georgia"/>
              </a:rPr>
              <a:t>Search Is One Paste Away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400"/>
              </a:spcAft>
            </a:pPr>
            <a:r>
              <a:rPr b="0" lang="en-US" sz="1450" spc="-1" strike="noStrike">
                <a:solidFill>
                  <a:srgbClr val="5e6b6c"/>
                </a:solidFill>
                <a:latin typeface="Calibri"/>
              </a:rPr>
              <a:t>No boolean filters, no scrolling. Drop in the description and the parsing is done for you.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6"/>
          <p:cNvSpPr/>
          <p:nvPr/>
        </p:nvSpPr>
        <p:spPr>
          <a:xfrm>
            <a:off x="548640" y="4160520"/>
            <a:ext cx="544032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Auto extracts role, company, skills and location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Works with LinkedIn, Greenhouse, Lever, anywhere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Jump straight from any job listing into its referrers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 7"/>
          <p:cNvSpPr/>
          <p:nvPr/>
        </p:nvSpPr>
        <p:spPr>
          <a:xfrm>
            <a:off x="6318360" y="2307600"/>
            <a:ext cx="5531760" cy="3102120"/>
          </a:xfrm>
          <a:prstGeom prst="rect">
            <a:avLst/>
          </a:prstGeom>
          <a:solidFill>
            <a:srgbClr val="e6df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0" name="Picture 8" descr="03_search.png"/>
          <p:cNvPicPr/>
          <p:nvPr/>
        </p:nvPicPr>
        <p:blipFill>
          <a:blip r:embed="rId2"/>
          <a:stretch/>
        </p:blipFill>
        <p:spPr>
          <a:xfrm>
            <a:off x="6263640" y="2243520"/>
            <a:ext cx="5531760" cy="3102120"/>
          </a:xfrm>
          <a:prstGeom prst="rect">
            <a:avLst/>
          </a:prstGeom>
          <a:ln w="12700">
            <a:solidFill>
              <a:srgbClr val="ddd6c8"/>
            </a:solidFill>
            <a:round/>
          </a:ln>
        </p:spPr>
      </p:pic>
      <p:sp>
        <p:nvSpPr>
          <p:cNvPr id="111" name="TextBox 9"/>
          <p:cNvSpPr/>
          <p:nvPr/>
        </p:nvSpPr>
        <p:spPr>
          <a:xfrm>
            <a:off x="11185920" y="6355080"/>
            <a:ext cx="6397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e6b6c"/>
                </a:solidFill>
                <a:latin typeface="Consolas"/>
              </a:rPr>
              <a:t>04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553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3" name="Picture 2" descr="logo_petrol.png"/>
          <p:cNvPicPr/>
          <p:nvPr/>
        </p:nvPicPr>
        <p:blipFill>
          <a:blip r:embed="rId1"/>
          <a:stretch/>
        </p:blipFill>
        <p:spPr>
          <a:xfrm>
            <a:off x="502920" y="41148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14" name="TextBox 3"/>
          <p:cNvSpPr/>
          <p:nvPr/>
        </p:nvSpPr>
        <p:spPr>
          <a:xfrm>
            <a:off x="941760" y="452160"/>
            <a:ext cx="41144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5535f"/>
                </a:solidFill>
                <a:latin typeface="Georgia"/>
              </a:rPr>
              <a:t>Refer</a:t>
            </a:r>
            <a:r>
              <a:rPr b="1" lang="en-US" sz="1500" spc="-1" strike="noStrike">
                <a:solidFill>
                  <a:srgbClr val="0e9384"/>
                </a:solidFill>
                <a:latin typeface="Georgia"/>
              </a:rPr>
              <a:t>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548640" y="1051560"/>
            <a:ext cx="548604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00" spc="-1" strike="noStrike">
                <a:solidFill>
                  <a:srgbClr val="0e9384"/>
                </a:solidFill>
                <a:latin typeface="Consolas"/>
              </a:rPr>
              <a:t>SMART FIT SCORING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5"/>
          <p:cNvSpPr/>
          <p:nvPr/>
        </p:nvSpPr>
        <p:spPr>
          <a:xfrm>
            <a:off x="548640" y="1371600"/>
            <a:ext cx="5394600" cy="10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3100" spc="-1" strike="noStrike">
                <a:solidFill>
                  <a:srgbClr val="15535f"/>
                </a:solidFill>
                <a:latin typeface="Georgia"/>
              </a:rPr>
              <a:t>Ranked by Real Fit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400"/>
              </a:spcAft>
            </a:pPr>
            <a:r>
              <a:rPr b="0" lang="en-US" sz="1450" spc="-1" strike="noStrike">
                <a:solidFill>
                  <a:srgbClr val="5e6b6c"/>
                </a:solidFill>
                <a:latin typeface="Calibri"/>
              </a:rPr>
              <a:t>Every referrer gets a match score from how their background lines up with the role and with you.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6"/>
          <p:cNvSpPr/>
          <p:nvPr/>
        </p:nvSpPr>
        <p:spPr>
          <a:xfrm>
            <a:off x="548640" y="4160520"/>
            <a:ext cx="544032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Vector similarity across job, person and your profile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Shared skills surfaced and highlighted in green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Alumni, coworker and connection paths boost the score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ectangle 7"/>
          <p:cNvSpPr/>
          <p:nvPr/>
        </p:nvSpPr>
        <p:spPr>
          <a:xfrm>
            <a:off x="6364080" y="1744920"/>
            <a:ext cx="5440320" cy="4227120"/>
          </a:xfrm>
          <a:prstGeom prst="rect">
            <a:avLst/>
          </a:prstGeom>
          <a:solidFill>
            <a:srgbClr val="e6df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9" name="Picture 8" descr="03-find-referrers.png"/>
          <p:cNvPicPr/>
          <p:nvPr/>
        </p:nvPicPr>
        <p:blipFill>
          <a:blip r:embed="rId2"/>
          <a:stretch/>
        </p:blipFill>
        <p:spPr>
          <a:xfrm>
            <a:off x="6309360" y="1680840"/>
            <a:ext cx="5440320" cy="4227120"/>
          </a:xfrm>
          <a:prstGeom prst="rect">
            <a:avLst/>
          </a:prstGeom>
          <a:ln w="12700">
            <a:solidFill>
              <a:srgbClr val="ddd6c8"/>
            </a:solidFill>
            <a:round/>
          </a:ln>
        </p:spPr>
      </p:pic>
      <p:sp>
        <p:nvSpPr>
          <p:cNvPr id="120" name="TextBox 9"/>
          <p:cNvSpPr/>
          <p:nvPr/>
        </p:nvSpPr>
        <p:spPr>
          <a:xfrm>
            <a:off x="11185920" y="6355080"/>
            <a:ext cx="6397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e6b6c"/>
                </a:solidFill>
                <a:latin typeface="Consolas"/>
              </a:rPr>
              <a:t>05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553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2" name="Picture 2" descr="logo_petrol.png"/>
          <p:cNvPicPr/>
          <p:nvPr/>
        </p:nvPicPr>
        <p:blipFill>
          <a:blip r:embed="rId1"/>
          <a:stretch/>
        </p:blipFill>
        <p:spPr>
          <a:xfrm>
            <a:off x="502920" y="41148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23" name="TextBox 3"/>
          <p:cNvSpPr/>
          <p:nvPr/>
        </p:nvSpPr>
        <p:spPr>
          <a:xfrm>
            <a:off x="941760" y="452160"/>
            <a:ext cx="41144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5535f"/>
                </a:solidFill>
                <a:latin typeface="Georgia"/>
              </a:rPr>
              <a:t>Refer</a:t>
            </a:r>
            <a:r>
              <a:rPr b="1" lang="en-US" sz="1500" spc="-1" strike="noStrike">
                <a:solidFill>
                  <a:srgbClr val="0e9384"/>
                </a:solidFill>
                <a:latin typeface="Georgia"/>
              </a:rPr>
              <a:t>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548640" y="1051560"/>
            <a:ext cx="548604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00" spc="-1" strike="noStrike">
                <a:solidFill>
                  <a:srgbClr val="0e9384"/>
                </a:solidFill>
                <a:latin typeface="Consolas"/>
              </a:rPr>
              <a:t>RELATIONSHIP SOURCING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5"/>
          <p:cNvSpPr/>
          <p:nvPr/>
        </p:nvSpPr>
        <p:spPr>
          <a:xfrm>
            <a:off x="548640" y="1371600"/>
            <a:ext cx="5394600" cy="18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3100" spc="-1" strike="noStrike">
                <a:solidFill>
                  <a:srgbClr val="15535f"/>
                </a:solidFill>
                <a:latin typeface="Georgia"/>
              </a:rPr>
              <a:t>The People Who Can Actually Vouch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400"/>
              </a:spcAft>
            </a:pPr>
            <a:r>
              <a:rPr b="0" lang="en-US" sz="1450" spc="-1" strike="noStrike">
                <a:solidFill>
                  <a:srgbClr val="5e6b6c"/>
                </a:solidFill>
                <a:latin typeface="Calibri"/>
              </a:rPr>
              <a:t>We rank insiders by the warm paths that get referrals accepted: a shared employer or a shared campus, surfaced on every card and labelled by source.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6"/>
          <p:cNvSpPr/>
          <p:nvPr/>
        </p:nvSpPr>
        <p:spPr>
          <a:xfrm>
            <a:off x="548640" y="4160520"/>
            <a:ext cx="5440320" cy="10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Coworker and Alumni paths, the signals that actually convert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Every card labelled by source, here a curated profile database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Proof of concept now; an official LinkedIn or ATS API makes it production grade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 7"/>
          <p:cNvSpPr/>
          <p:nvPr/>
        </p:nvSpPr>
        <p:spPr>
          <a:xfrm>
            <a:off x="6364080" y="1744920"/>
            <a:ext cx="5440320" cy="4227120"/>
          </a:xfrm>
          <a:prstGeom prst="rect">
            <a:avLst/>
          </a:prstGeom>
          <a:solidFill>
            <a:srgbClr val="e6df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8" name="Picture 8" descr="03-find-referrers.png"/>
          <p:cNvPicPr/>
          <p:nvPr/>
        </p:nvPicPr>
        <p:blipFill>
          <a:blip r:embed="rId2"/>
          <a:stretch/>
        </p:blipFill>
        <p:spPr>
          <a:xfrm>
            <a:off x="6309360" y="1680840"/>
            <a:ext cx="5440320" cy="4227120"/>
          </a:xfrm>
          <a:prstGeom prst="rect">
            <a:avLst/>
          </a:prstGeom>
          <a:ln w="12700">
            <a:solidFill>
              <a:srgbClr val="ddd6c8"/>
            </a:solidFill>
            <a:round/>
          </a:ln>
        </p:spPr>
      </p:pic>
      <p:sp>
        <p:nvSpPr>
          <p:cNvPr id="129" name="TextBox 9"/>
          <p:cNvSpPr/>
          <p:nvPr/>
        </p:nvSpPr>
        <p:spPr>
          <a:xfrm>
            <a:off x="11185920" y="6355080"/>
            <a:ext cx="6397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e6b6c"/>
                </a:solidFill>
                <a:latin typeface="Consolas"/>
              </a:rPr>
              <a:t>06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553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1" name="Picture 2" descr="logo_petrol.png"/>
          <p:cNvPicPr/>
          <p:nvPr/>
        </p:nvPicPr>
        <p:blipFill>
          <a:blip r:embed="rId1"/>
          <a:stretch/>
        </p:blipFill>
        <p:spPr>
          <a:xfrm>
            <a:off x="502920" y="41148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32" name="TextBox 3"/>
          <p:cNvSpPr/>
          <p:nvPr/>
        </p:nvSpPr>
        <p:spPr>
          <a:xfrm>
            <a:off x="941760" y="452160"/>
            <a:ext cx="41144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5535f"/>
                </a:solidFill>
                <a:latin typeface="Georgia"/>
              </a:rPr>
              <a:t>Refer</a:t>
            </a:r>
            <a:r>
              <a:rPr b="1" lang="en-US" sz="1500" spc="-1" strike="noStrike">
                <a:solidFill>
                  <a:srgbClr val="0e9384"/>
                </a:solidFill>
                <a:latin typeface="Georgia"/>
              </a:rPr>
              <a:t>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4"/>
          <p:cNvSpPr/>
          <p:nvPr/>
        </p:nvSpPr>
        <p:spPr>
          <a:xfrm>
            <a:off x="548640" y="1051560"/>
            <a:ext cx="548604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00" spc="-1" strike="noStrike">
                <a:solidFill>
                  <a:srgbClr val="0e9384"/>
                </a:solidFill>
                <a:latin typeface="Consolas"/>
              </a:rPr>
              <a:t>AI OUTREACH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5"/>
          <p:cNvSpPr/>
          <p:nvPr/>
        </p:nvSpPr>
        <p:spPr>
          <a:xfrm>
            <a:off x="548640" y="1371600"/>
            <a:ext cx="539460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3100" spc="-1" strike="noStrike">
                <a:solidFill>
                  <a:srgbClr val="15535f"/>
                </a:solidFill>
                <a:latin typeface="Georgia"/>
              </a:rPr>
              <a:t>The Message, Already Written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400"/>
              </a:spcAft>
            </a:pPr>
            <a:r>
              <a:rPr b="0" lang="en-US" sz="1450" spc="-1" strike="noStrike">
                <a:solidFill>
                  <a:srgbClr val="5e6b6c"/>
                </a:solidFill>
                <a:latin typeface="Calibri"/>
              </a:rPr>
              <a:t>Each referrer comes with a personalised outreach draft built from the job and your profile, fully editable.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6"/>
          <p:cNvSpPr/>
          <p:nvPr/>
        </p:nvSpPr>
        <p:spPr>
          <a:xfrm>
            <a:off x="548640" y="4160520"/>
            <a:ext cx="544032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Tailored to the role and your background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Edit inline, copy, or send in one click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No more blank page cold messages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ectangle 7"/>
          <p:cNvSpPr/>
          <p:nvPr/>
        </p:nvSpPr>
        <p:spPr>
          <a:xfrm>
            <a:off x="6364080" y="1744920"/>
            <a:ext cx="5440320" cy="4227120"/>
          </a:xfrm>
          <a:prstGeom prst="rect">
            <a:avLst/>
          </a:prstGeom>
          <a:solidFill>
            <a:srgbClr val="e6df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7" name="Picture 8" descr="03-find-referrers.png"/>
          <p:cNvPicPr/>
          <p:nvPr/>
        </p:nvPicPr>
        <p:blipFill>
          <a:blip r:embed="rId2"/>
          <a:stretch/>
        </p:blipFill>
        <p:spPr>
          <a:xfrm>
            <a:off x="6309360" y="1680840"/>
            <a:ext cx="5440320" cy="4227120"/>
          </a:xfrm>
          <a:prstGeom prst="rect">
            <a:avLst/>
          </a:prstGeom>
          <a:ln w="12700">
            <a:solidFill>
              <a:srgbClr val="ddd6c8"/>
            </a:solidFill>
            <a:round/>
          </a:ln>
        </p:spPr>
      </p:pic>
      <p:sp>
        <p:nvSpPr>
          <p:cNvPr id="138" name="TextBox 9"/>
          <p:cNvSpPr/>
          <p:nvPr/>
        </p:nvSpPr>
        <p:spPr>
          <a:xfrm>
            <a:off x="11185920" y="6355080"/>
            <a:ext cx="6397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e6b6c"/>
                </a:solidFill>
                <a:latin typeface="Consolas"/>
              </a:rPr>
              <a:t>07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553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0" name="Picture 2" descr="logo_petrol.png"/>
          <p:cNvPicPr/>
          <p:nvPr/>
        </p:nvPicPr>
        <p:blipFill>
          <a:blip r:embed="rId1"/>
          <a:stretch/>
        </p:blipFill>
        <p:spPr>
          <a:xfrm>
            <a:off x="502920" y="41148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41" name="TextBox 3"/>
          <p:cNvSpPr/>
          <p:nvPr/>
        </p:nvSpPr>
        <p:spPr>
          <a:xfrm>
            <a:off x="941760" y="452160"/>
            <a:ext cx="41144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5535f"/>
                </a:solidFill>
                <a:latin typeface="Georgia"/>
              </a:rPr>
              <a:t>Refer</a:t>
            </a:r>
            <a:r>
              <a:rPr b="1" lang="en-US" sz="1500" spc="-1" strike="noStrike">
                <a:solidFill>
                  <a:srgbClr val="0e9384"/>
                </a:solidFill>
                <a:latin typeface="Georgia"/>
              </a:rPr>
              <a:t>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4"/>
          <p:cNvSpPr/>
          <p:nvPr/>
        </p:nvSpPr>
        <p:spPr>
          <a:xfrm>
            <a:off x="548640" y="1051560"/>
            <a:ext cx="548604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00" spc="-1" strike="noStrike">
                <a:solidFill>
                  <a:srgbClr val="0e9384"/>
                </a:solidFill>
                <a:latin typeface="Consolas"/>
              </a:rPr>
              <a:t>A REAL DIFFERENTIATOR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548640" y="1371600"/>
            <a:ext cx="539460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3100" spc="-1" strike="noStrike">
                <a:solidFill>
                  <a:srgbClr val="15535f"/>
                </a:solidFill>
                <a:latin typeface="Georgia"/>
              </a:rPr>
              <a:t>Never Message the Same Person Twice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400"/>
              </a:spcAft>
            </a:pPr>
            <a:r>
              <a:rPr b="0" lang="en-US" sz="1450" spc="-1" strike="noStrike">
                <a:solidFill>
                  <a:srgbClr val="5e6b6c"/>
                </a:solidFill>
                <a:latin typeface="Calibri"/>
              </a:rPr>
              <a:t>ReferIn remembers everyone you have reached out to, protecting relationships and your time.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548640" y="4160520"/>
            <a:ext cx="544032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Sent requests tracked per person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Requested badges plus a hide contacted filter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Recognises someone even across new searches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ectangle 7"/>
          <p:cNvSpPr/>
          <p:nvPr/>
        </p:nvSpPr>
        <p:spPr>
          <a:xfrm>
            <a:off x="6364080" y="2158560"/>
            <a:ext cx="5440320" cy="3400200"/>
          </a:xfrm>
          <a:prstGeom prst="rect">
            <a:avLst/>
          </a:prstGeom>
          <a:solidFill>
            <a:srgbClr val="e6df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6" name="Picture 8" descr="02-opportunities-contacted.png"/>
          <p:cNvPicPr/>
          <p:nvPr/>
        </p:nvPicPr>
        <p:blipFill>
          <a:blip r:embed="rId2"/>
          <a:stretch/>
        </p:blipFill>
        <p:spPr>
          <a:xfrm>
            <a:off x="6309360" y="2094480"/>
            <a:ext cx="5440320" cy="3400200"/>
          </a:xfrm>
          <a:prstGeom prst="rect">
            <a:avLst/>
          </a:prstGeom>
          <a:ln w="12700">
            <a:solidFill>
              <a:srgbClr val="ddd6c8"/>
            </a:solidFill>
            <a:round/>
          </a:ln>
        </p:spPr>
      </p:pic>
      <p:sp>
        <p:nvSpPr>
          <p:cNvPr id="147" name="TextBox 9"/>
          <p:cNvSpPr/>
          <p:nvPr/>
        </p:nvSpPr>
        <p:spPr>
          <a:xfrm>
            <a:off x="11185920" y="6355080"/>
            <a:ext cx="6397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e6b6c"/>
                </a:solidFill>
                <a:latin typeface="Consolas"/>
              </a:rPr>
              <a:t>08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553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9" name="Picture 2" descr="logo_petrol.png"/>
          <p:cNvPicPr/>
          <p:nvPr/>
        </p:nvPicPr>
        <p:blipFill>
          <a:blip r:embed="rId1"/>
          <a:stretch/>
        </p:blipFill>
        <p:spPr>
          <a:xfrm>
            <a:off x="502920" y="41148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50" name="TextBox 3"/>
          <p:cNvSpPr/>
          <p:nvPr/>
        </p:nvSpPr>
        <p:spPr>
          <a:xfrm>
            <a:off x="941760" y="452160"/>
            <a:ext cx="41144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5535f"/>
                </a:solidFill>
                <a:latin typeface="Georgia"/>
              </a:rPr>
              <a:t>Refer</a:t>
            </a:r>
            <a:r>
              <a:rPr b="1" lang="en-US" sz="1500" spc="-1" strike="noStrike">
                <a:solidFill>
                  <a:srgbClr val="0e9384"/>
                </a:solidFill>
                <a:latin typeface="Georgia"/>
              </a:rPr>
              <a:t>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4"/>
          <p:cNvSpPr/>
          <p:nvPr/>
        </p:nvSpPr>
        <p:spPr>
          <a:xfrm>
            <a:off x="548640" y="1051560"/>
            <a:ext cx="548604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00" spc="-1" strike="noStrike">
                <a:solidFill>
                  <a:srgbClr val="0e9384"/>
                </a:solidFill>
                <a:latin typeface="Consolas"/>
              </a:rPr>
              <a:t>AUTO RESUME TO PROFILE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5"/>
          <p:cNvSpPr/>
          <p:nvPr/>
        </p:nvSpPr>
        <p:spPr>
          <a:xfrm>
            <a:off x="548640" y="1371600"/>
            <a:ext cx="5394600" cy="10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3100" spc="-1" strike="noStrike">
                <a:solidFill>
                  <a:srgbClr val="15535f"/>
                </a:solidFill>
                <a:latin typeface="Georgia"/>
              </a:rPr>
              <a:t>Resume In, Profile Done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400"/>
              </a:spcAft>
            </a:pPr>
            <a:r>
              <a:rPr b="0" lang="en-US" sz="1450" spc="-1" strike="noStrike">
                <a:solidFill>
                  <a:srgbClr val="5e6b6c"/>
                </a:solidFill>
                <a:latin typeface="Calibri"/>
              </a:rPr>
              <a:t>Upload a PDF or DOCX and ReferIn fills your skills, education and experience automatically. You just confirm.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6"/>
          <p:cNvSpPr/>
          <p:nvPr/>
        </p:nvSpPr>
        <p:spPr>
          <a:xfrm>
            <a:off x="548640" y="4160520"/>
            <a:ext cx="544032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Auto extracts skills, education and experience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Review and confirm before anything saves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Editable profile and photo, matches sharpen instantly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ectangle 7"/>
          <p:cNvSpPr/>
          <p:nvPr/>
        </p:nvSpPr>
        <p:spPr>
          <a:xfrm>
            <a:off x="6364080" y="2158560"/>
            <a:ext cx="5440320" cy="3400200"/>
          </a:xfrm>
          <a:prstGeom prst="rect">
            <a:avLst/>
          </a:prstGeom>
          <a:solidFill>
            <a:srgbClr val="e6df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5" name="Picture 8" descr="06-resume-extraction.png"/>
          <p:cNvPicPr/>
          <p:nvPr/>
        </p:nvPicPr>
        <p:blipFill>
          <a:blip r:embed="rId2"/>
          <a:stretch/>
        </p:blipFill>
        <p:spPr>
          <a:xfrm>
            <a:off x="6309360" y="2094480"/>
            <a:ext cx="5440320" cy="3400200"/>
          </a:xfrm>
          <a:prstGeom prst="rect">
            <a:avLst/>
          </a:prstGeom>
          <a:ln w="12700">
            <a:solidFill>
              <a:srgbClr val="ddd6c8"/>
            </a:solidFill>
            <a:round/>
          </a:ln>
        </p:spPr>
      </p:pic>
      <p:sp>
        <p:nvSpPr>
          <p:cNvPr id="156" name="TextBox 9"/>
          <p:cNvSpPr/>
          <p:nvPr/>
        </p:nvSpPr>
        <p:spPr>
          <a:xfrm>
            <a:off x="11185920" y="6355080"/>
            <a:ext cx="6397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e6b6c"/>
                </a:solidFill>
                <a:latin typeface="Consolas"/>
              </a:rPr>
              <a:t>09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553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8" name="Picture 2" descr="logo_petrol.png"/>
          <p:cNvPicPr/>
          <p:nvPr/>
        </p:nvPicPr>
        <p:blipFill>
          <a:blip r:embed="rId1"/>
          <a:stretch/>
        </p:blipFill>
        <p:spPr>
          <a:xfrm>
            <a:off x="502920" y="41148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59" name="TextBox 3"/>
          <p:cNvSpPr/>
          <p:nvPr/>
        </p:nvSpPr>
        <p:spPr>
          <a:xfrm>
            <a:off x="941760" y="452160"/>
            <a:ext cx="41144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5535f"/>
                </a:solidFill>
                <a:latin typeface="Georgia"/>
              </a:rPr>
              <a:t>Refer</a:t>
            </a:r>
            <a:r>
              <a:rPr b="1" lang="en-US" sz="1500" spc="-1" strike="noStrike">
                <a:solidFill>
                  <a:srgbClr val="0e9384"/>
                </a:solidFill>
                <a:latin typeface="Georgia"/>
              </a:rPr>
              <a:t>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4"/>
          <p:cNvSpPr/>
          <p:nvPr/>
        </p:nvSpPr>
        <p:spPr>
          <a:xfrm>
            <a:off x="548640" y="1051560"/>
            <a:ext cx="548604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00" spc="-1" strike="noStrike">
                <a:solidFill>
                  <a:srgbClr val="0e9384"/>
                </a:solidFill>
                <a:latin typeface="Consolas"/>
              </a:rPr>
              <a:t>BUILT-IN JOB SEARCH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5"/>
          <p:cNvSpPr/>
          <p:nvPr/>
        </p:nvSpPr>
        <p:spPr>
          <a:xfrm>
            <a:off x="548640" y="1371600"/>
            <a:ext cx="5394600" cy="10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3100" spc="-1" strike="noStrike">
                <a:solidFill>
                  <a:srgbClr val="15535f"/>
                </a:solidFill>
                <a:latin typeface="Georgia"/>
              </a:rPr>
              <a:t>Find the Jobs, Too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400"/>
              </a:spcAft>
            </a:pPr>
            <a:r>
              <a:rPr b="0" lang="en-US" sz="1450" spc="-1" strike="noStrike">
                <a:solidFill>
                  <a:srgbClr val="5e6b6c"/>
                </a:solidFill>
                <a:latin typeface="Calibri"/>
              </a:rPr>
              <a:t>Browse live openings by role, company and country, then jump straight to who can refer you.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6"/>
          <p:cNvSpPr/>
          <p:nvPr/>
        </p:nvSpPr>
        <p:spPr>
          <a:xfrm>
            <a:off x="548640" y="4160520"/>
            <a:ext cx="544032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Live listings filtered by role, company and country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Roles auto suggested from your profile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Every job links straight into referrer search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ectangle 7"/>
          <p:cNvSpPr/>
          <p:nvPr/>
        </p:nvSpPr>
        <p:spPr>
          <a:xfrm>
            <a:off x="6364080" y="1915920"/>
            <a:ext cx="5440320" cy="3885480"/>
          </a:xfrm>
          <a:prstGeom prst="rect">
            <a:avLst/>
          </a:prstGeom>
          <a:solidFill>
            <a:srgbClr val="e6df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64" name="Picture 8" descr="08_jobs.png"/>
          <p:cNvPicPr/>
          <p:nvPr/>
        </p:nvPicPr>
        <p:blipFill>
          <a:blip r:embed="rId2"/>
          <a:stretch/>
        </p:blipFill>
        <p:spPr>
          <a:xfrm>
            <a:off x="6309360" y="1851840"/>
            <a:ext cx="5440320" cy="3885480"/>
          </a:xfrm>
          <a:prstGeom prst="rect">
            <a:avLst/>
          </a:prstGeom>
          <a:ln w="12700">
            <a:solidFill>
              <a:srgbClr val="ddd6c8"/>
            </a:solidFill>
            <a:round/>
          </a:ln>
        </p:spPr>
      </p:pic>
      <p:sp>
        <p:nvSpPr>
          <p:cNvPr id="165" name="TextBox 9"/>
          <p:cNvSpPr/>
          <p:nvPr/>
        </p:nvSpPr>
        <p:spPr>
          <a:xfrm>
            <a:off x="11185920" y="6355080"/>
            <a:ext cx="6397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e6b6c"/>
                </a:solidFill>
                <a:latin typeface="Consolas"/>
              </a:rPr>
              <a:t>10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553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67" name="Picture 2" descr="logo_petrol.png"/>
          <p:cNvPicPr/>
          <p:nvPr/>
        </p:nvPicPr>
        <p:blipFill>
          <a:blip r:embed="rId1"/>
          <a:stretch/>
        </p:blipFill>
        <p:spPr>
          <a:xfrm>
            <a:off x="502920" y="41148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68" name="TextBox 3"/>
          <p:cNvSpPr/>
          <p:nvPr/>
        </p:nvSpPr>
        <p:spPr>
          <a:xfrm>
            <a:off x="941760" y="452160"/>
            <a:ext cx="41144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5535f"/>
                </a:solidFill>
                <a:latin typeface="Georgia"/>
              </a:rPr>
              <a:t>Refer</a:t>
            </a:r>
            <a:r>
              <a:rPr b="1" lang="en-US" sz="1500" spc="-1" strike="noStrike">
                <a:solidFill>
                  <a:srgbClr val="0e9384"/>
                </a:solidFill>
                <a:latin typeface="Georgia"/>
              </a:rPr>
              <a:t>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548640" y="1051560"/>
            <a:ext cx="548604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00" spc="-1" strike="noStrike">
                <a:solidFill>
                  <a:srgbClr val="0e9384"/>
                </a:solidFill>
                <a:latin typeface="Consolas"/>
              </a:rPr>
              <a:t>EXPERIENCE AND DESIGN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5"/>
          <p:cNvSpPr/>
          <p:nvPr/>
        </p:nvSpPr>
        <p:spPr>
          <a:xfrm>
            <a:off x="548640" y="1371600"/>
            <a:ext cx="10515240" cy="8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3200" spc="-1" strike="noStrike">
                <a:solidFill>
                  <a:srgbClr val="15535f"/>
                </a:solidFill>
                <a:latin typeface="Georgia"/>
              </a:rPr>
              <a:t>Built to Feel Effortless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601"/>
              </a:spcAft>
            </a:pPr>
            <a:r>
              <a:rPr b="0" lang="en-US" sz="1450" spc="-1" strike="noStrike">
                <a:solidFill>
                  <a:srgbClr val="5e6b6c"/>
                </a:solidFill>
                <a:latin typeface="Calibri"/>
              </a:rPr>
              <a:t>A fast, polished interface with the small details that make a tool genuinely pleasant to use.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ectangle 6"/>
          <p:cNvSpPr/>
          <p:nvPr/>
        </p:nvSpPr>
        <p:spPr>
          <a:xfrm>
            <a:off x="603360" y="2821320"/>
            <a:ext cx="3611520" cy="2257200"/>
          </a:xfrm>
          <a:prstGeom prst="rect">
            <a:avLst/>
          </a:prstGeom>
          <a:solidFill>
            <a:srgbClr val="e6df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2" name="Picture 7" descr="09-theme-dark.png"/>
          <p:cNvPicPr/>
          <p:nvPr/>
        </p:nvPicPr>
        <p:blipFill>
          <a:blip r:embed="rId2"/>
          <a:stretch/>
        </p:blipFill>
        <p:spPr>
          <a:xfrm>
            <a:off x="548640" y="2757600"/>
            <a:ext cx="3611520" cy="2257200"/>
          </a:xfrm>
          <a:prstGeom prst="rect">
            <a:avLst/>
          </a:prstGeom>
          <a:ln w="12700">
            <a:solidFill>
              <a:srgbClr val="ddd6c8"/>
            </a:solidFill>
            <a:round/>
          </a:ln>
        </p:spPr>
      </p:pic>
      <p:sp>
        <p:nvSpPr>
          <p:cNvPr id="173" name="TextBox 8"/>
          <p:cNvSpPr/>
          <p:nvPr/>
        </p:nvSpPr>
        <p:spPr>
          <a:xfrm>
            <a:off x="548640" y="5088240"/>
            <a:ext cx="36115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50" spc="-1" strike="noStrike">
                <a:solidFill>
                  <a:srgbClr val="0e9384"/>
                </a:solidFill>
                <a:latin typeface="Consolas"/>
              </a:rPr>
              <a:t>MIDNIGHT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ectangle 9"/>
          <p:cNvSpPr/>
          <p:nvPr/>
        </p:nvSpPr>
        <p:spPr>
          <a:xfrm>
            <a:off x="4398120" y="2821320"/>
            <a:ext cx="3611520" cy="2257200"/>
          </a:xfrm>
          <a:prstGeom prst="rect">
            <a:avLst/>
          </a:prstGeom>
          <a:solidFill>
            <a:srgbClr val="e6df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5" name="Picture 10" descr="10-theme-violet.png"/>
          <p:cNvPicPr/>
          <p:nvPr/>
        </p:nvPicPr>
        <p:blipFill>
          <a:blip r:embed="rId3"/>
          <a:stretch/>
        </p:blipFill>
        <p:spPr>
          <a:xfrm>
            <a:off x="4343400" y="2757600"/>
            <a:ext cx="3611520" cy="2257200"/>
          </a:xfrm>
          <a:prstGeom prst="rect">
            <a:avLst/>
          </a:prstGeom>
          <a:ln w="12700">
            <a:solidFill>
              <a:srgbClr val="ddd6c8"/>
            </a:solidFill>
            <a:round/>
          </a:ln>
        </p:spPr>
      </p:pic>
      <p:sp>
        <p:nvSpPr>
          <p:cNvPr id="176" name="TextBox 11"/>
          <p:cNvSpPr/>
          <p:nvPr/>
        </p:nvSpPr>
        <p:spPr>
          <a:xfrm>
            <a:off x="4343400" y="5088240"/>
            <a:ext cx="36115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50" spc="-1" strike="noStrike">
                <a:solidFill>
                  <a:srgbClr val="0e9384"/>
                </a:solidFill>
                <a:latin typeface="Consolas"/>
              </a:rPr>
              <a:t>VIOLET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ectangle 12"/>
          <p:cNvSpPr/>
          <p:nvPr/>
        </p:nvSpPr>
        <p:spPr>
          <a:xfrm>
            <a:off x="8192880" y="2821320"/>
            <a:ext cx="3611520" cy="2257200"/>
          </a:xfrm>
          <a:prstGeom prst="rect">
            <a:avLst/>
          </a:prstGeom>
          <a:solidFill>
            <a:srgbClr val="e6df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8" name="Picture 13" descr="11-theme-sand.png"/>
          <p:cNvPicPr/>
          <p:nvPr/>
        </p:nvPicPr>
        <p:blipFill>
          <a:blip r:embed="rId4"/>
          <a:stretch/>
        </p:blipFill>
        <p:spPr>
          <a:xfrm>
            <a:off x="8138160" y="2757600"/>
            <a:ext cx="3611520" cy="2257200"/>
          </a:xfrm>
          <a:prstGeom prst="rect">
            <a:avLst/>
          </a:prstGeom>
          <a:ln w="12700">
            <a:solidFill>
              <a:srgbClr val="ddd6c8"/>
            </a:solidFill>
            <a:round/>
          </a:ln>
        </p:spPr>
      </p:pic>
      <p:sp>
        <p:nvSpPr>
          <p:cNvPr id="179" name="TextBox 14"/>
          <p:cNvSpPr/>
          <p:nvPr/>
        </p:nvSpPr>
        <p:spPr>
          <a:xfrm>
            <a:off x="8138160" y="5088240"/>
            <a:ext cx="36115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050" spc="-1" strike="noStrike">
                <a:solidFill>
                  <a:srgbClr val="0e9384"/>
                </a:solidFill>
                <a:latin typeface="Consolas"/>
              </a:rPr>
              <a:t>SAND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15"/>
          <p:cNvSpPr/>
          <p:nvPr/>
        </p:nvSpPr>
        <p:spPr>
          <a:xfrm>
            <a:off x="548640" y="5669280"/>
            <a:ext cx="10972440" cy="6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250" spc="-1" strike="noStrike">
                <a:solidFill>
                  <a:srgbClr val="0e9384"/>
                </a:solidFill>
                <a:latin typeface="Calibri"/>
              </a:rPr>
              <a:t>▸ </a:t>
            </a:r>
            <a:r>
              <a:rPr b="0" lang="en-US" sz="1250" spc="-1" strike="noStrike">
                <a:solidFill>
                  <a:srgbClr val="15535f"/>
                </a:solidFill>
                <a:latin typeface="Calibri"/>
              </a:rPr>
              <a:t>Six light and dark themes, switch in one click    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250" spc="-1" strike="noStrike">
                <a:solidFill>
                  <a:srgbClr val="0e9384"/>
                </a:solidFill>
                <a:latin typeface="Calibri"/>
              </a:rPr>
              <a:t>▸ </a:t>
            </a:r>
            <a:r>
              <a:rPr b="0" lang="en-US" sz="1250" spc="-1" strike="noStrike">
                <a:solidFill>
                  <a:srgbClr val="15535f"/>
                </a:solidFill>
                <a:latin typeface="Calibri"/>
              </a:rPr>
              <a:t>Auto growing inputs, live validation and clean empty states    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250" spc="-1" strike="noStrike">
                <a:solidFill>
                  <a:srgbClr val="0e9384"/>
                </a:solidFill>
                <a:latin typeface="Calibri"/>
              </a:rPr>
              <a:t>▸ </a:t>
            </a:r>
            <a:r>
              <a:rPr b="0" lang="en-US" sz="1250" spc="-1" strike="noStrike">
                <a:solidFill>
                  <a:srgbClr val="15535f"/>
                </a:solidFill>
                <a:latin typeface="Calibri"/>
              </a:rPr>
              <a:t>Editorial design, not your average hackathon UI    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Box 16"/>
          <p:cNvSpPr/>
          <p:nvPr/>
        </p:nvSpPr>
        <p:spPr>
          <a:xfrm>
            <a:off x="11185920" y="6355080"/>
            <a:ext cx="6397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e6b6c"/>
                </a:solidFill>
                <a:latin typeface="Consolas"/>
              </a:rPr>
              <a:t>11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553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83" name="Picture 2" descr="logo_petrol.png"/>
          <p:cNvPicPr/>
          <p:nvPr/>
        </p:nvPicPr>
        <p:blipFill>
          <a:blip r:embed="rId1"/>
          <a:stretch/>
        </p:blipFill>
        <p:spPr>
          <a:xfrm>
            <a:off x="502920" y="41148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84" name="TextBox 3"/>
          <p:cNvSpPr/>
          <p:nvPr/>
        </p:nvSpPr>
        <p:spPr>
          <a:xfrm>
            <a:off x="941760" y="452160"/>
            <a:ext cx="41144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5535f"/>
                </a:solidFill>
                <a:latin typeface="Georgia"/>
              </a:rPr>
              <a:t>Refer</a:t>
            </a:r>
            <a:r>
              <a:rPr b="1" lang="en-US" sz="1500" spc="-1" strike="noStrike">
                <a:solidFill>
                  <a:srgbClr val="0e9384"/>
                </a:solidFill>
                <a:latin typeface="Georgia"/>
              </a:rPr>
              <a:t>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4"/>
          <p:cNvSpPr/>
          <p:nvPr/>
        </p:nvSpPr>
        <p:spPr>
          <a:xfrm>
            <a:off x="548640" y="1051560"/>
            <a:ext cx="548604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00" spc="-1" strike="noStrike">
                <a:solidFill>
                  <a:srgbClr val="0e9384"/>
                </a:solidFill>
                <a:latin typeface="Consolas"/>
              </a:rPr>
              <a:t>HOW IT WORKS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5"/>
          <p:cNvSpPr/>
          <p:nvPr/>
        </p:nvSpPr>
        <p:spPr>
          <a:xfrm>
            <a:off x="548640" y="1371600"/>
            <a:ext cx="10972440" cy="8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3200" spc="-1" strike="noStrike">
                <a:solidFill>
                  <a:srgbClr val="15535f"/>
                </a:solidFill>
                <a:latin typeface="Georgia"/>
              </a:rPr>
              <a:t>Simple Stack, Swappable Data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601"/>
              </a:spcAft>
            </a:pPr>
            <a:r>
              <a:rPr b="0" lang="en-US" sz="1450" spc="-1" strike="noStrike">
                <a:solidFill>
                  <a:srgbClr val="5e6b6c"/>
                </a:solidFill>
                <a:latin typeface="Calibri"/>
              </a:rPr>
              <a:t>A lean React and Flask app wired to a language model and a relationship graph, with no heavy ML dependencies.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Rounded Rectangle 6"/>
          <p:cNvSpPr/>
          <p:nvPr/>
        </p:nvSpPr>
        <p:spPr>
          <a:xfrm>
            <a:off x="563760" y="3200400"/>
            <a:ext cx="1992960" cy="1371240"/>
          </a:xfrm>
          <a:prstGeom prst="roundRect">
            <a:avLst>
              <a:gd name="adj" fmla="val 16667"/>
            </a:avLst>
          </a:prstGeom>
          <a:solidFill>
            <a:srgbClr val="fbf8f3"/>
          </a:solidFill>
          <a:ln w="25400">
            <a:solidFill>
              <a:srgbClr val="1553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350" spc="-1" strike="noStrike">
                <a:solidFill>
                  <a:srgbClr val="15535f"/>
                </a:solidFill>
                <a:latin typeface="Calibri"/>
              </a:rPr>
              <a:t>Job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5535f"/>
                </a:solidFill>
                <a:latin typeface="Consolas"/>
              </a:rPr>
              <a:t>description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7"/>
          <p:cNvSpPr/>
          <p:nvPr/>
        </p:nvSpPr>
        <p:spPr>
          <a:xfrm>
            <a:off x="2557080" y="3741480"/>
            <a:ext cx="2739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800" spc="-1" strike="noStrike">
                <a:solidFill>
                  <a:srgbClr val="0e9384"/>
                </a:solidFill>
                <a:latin typeface="Calibri"/>
              </a:rPr>
              <a:t>▸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Rounded Rectangle 8"/>
          <p:cNvSpPr/>
          <p:nvPr/>
        </p:nvSpPr>
        <p:spPr>
          <a:xfrm>
            <a:off x="2831400" y="3200400"/>
            <a:ext cx="1992960" cy="1371240"/>
          </a:xfrm>
          <a:prstGeom prst="roundRect">
            <a:avLst>
              <a:gd name="adj" fmla="val 16667"/>
            </a:avLst>
          </a:prstGeom>
          <a:solidFill>
            <a:srgbClr val="fbf8f3"/>
          </a:solidFill>
          <a:ln w="25400">
            <a:solidFill>
              <a:srgbClr val="0e938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350" spc="-1" strike="noStrike">
                <a:solidFill>
                  <a:srgbClr val="15535f"/>
                </a:solidFill>
                <a:latin typeface="Calibri"/>
              </a:rPr>
              <a:t>LLM parse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0e9384"/>
                </a:solidFill>
                <a:latin typeface="Consolas"/>
              </a:rPr>
              <a:t>DeepSeek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9"/>
          <p:cNvSpPr/>
          <p:nvPr/>
        </p:nvSpPr>
        <p:spPr>
          <a:xfrm>
            <a:off x="4824720" y="3741480"/>
            <a:ext cx="2739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800" spc="-1" strike="noStrike">
                <a:solidFill>
                  <a:srgbClr val="0e9384"/>
                </a:solidFill>
                <a:latin typeface="Calibri"/>
              </a:rPr>
              <a:t>▸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ounded Rectangle 10"/>
          <p:cNvSpPr/>
          <p:nvPr/>
        </p:nvSpPr>
        <p:spPr>
          <a:xfrm>
            <a:off x="5099040" y="3200400"/>
            <a:ext cx="1992960" cy="1371240"/>
          </a:xfrm>
          <a:prstGeom prst="roundRect">
            <a:avLst>
              <a:gd name="adj" fmla="val 16667"/>
            </a:avLst>
          </a:prstGeom>
          <a:solidFill>
            <a:srgbClr val="fbf8f3"/>
          </a:solidFill>
          <a:ln w="25400">
            <a:solidFill>
              <a:srgbClr val="1553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350" spc="-1" strike="noStrike">
                <a:solidFill>
                  <a:srgbClr val="15535f"/>
                </a:solidFill>
                <a:latin typeface="Calibri"/>
              </a:rPr>
              <a:t>Relationship DB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5535f"/>
                </a:solidFill>
                <a:latin typeface="Consolas"/>
              </a:rPr>
              <a:t>curated, LinkedIn ready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11"/>
          <p:cNvSpPr/>
          <p:nvPr/>
        </p:nvSpPr>
        <p:spPr>
          <a:xfrm>
            <a:off x="7092720" y="3741480"/>
            <a:ext cx="2739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800" spc="-1" strike="noStrike">
                <a:solidFill>
                  <a:srgbClr val="0e9384"/>
                </a:solidFill>
                <a:latin typeface="Calibri"/>
              </a:rPr>
              <a:t>▸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ounded Rectangle 12"/>
          <p:cNvSpPr/>
          <p:nvPr/>
        </p:nvSpPr>
        <p:spPr>
          <a:xfrm>
            <a:off x="7367040" y="3200400"/>
            <a:ext cx="1992960" cy="1371240"/>
          </a:xfrm>
          <a:prstGeom prst="roundRect">
            <a:avLst>
              <a:gd name="adj" fmla="val 16667"/>
            </a:avLst>
          </a:prstGeom>
          <a:solidFill>
            <a:srgbClr val="fbf8f3"/>
          </a:solidFill>
          <a:ln w="25400">
            <a:solidFill>
              <a:srgbClr val="0e938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350" spc="-1" strike="noStrike">
                <a:solidFill>
                  <a:srgbClr val="15535f"/>
                </a:solidFill>
                <a:latin typeface="Calibri"/>
              </a:rPr>
              <a:t>Fit + relationship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0e9384"/>
                </a:solidFill>
                <a:latin typeface="Consolas"/>
              </a:rPr>
              <a:t>scoring engine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13"/>
          <p:cNvSpPr/>
          <p:nvPr/>
        </p:nvSpPr>
        <p:spPr>
          <a:xfrm>
            <a:off x="9360360" y="3741480"/>
            <a:ext cx="2739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5000"/>
              </a:lnSpc>
            </a:pPr>
            <a:r>
              <a:rPr b="1" lang="en-US" sz="1800" spc="-1" strike="noStrike">
                <a:solidFill>
                  <a:srgbClr val="0e9384"/>
                </a:solidFill>
                <a:latin typeface="Calibri"/>
              </a:rPr>
              <a:t>▸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ounded Rectangle 14"/>
          <p:cNvSpPr/>
          <p:nvPr/>
        </p:nvSpPr>
        <p:spPr>
          <a:xfrm>
            <a:off x="9634680" y="3200400"/>
            <a:ext cx="1992960" cy="1371240"/>
          </a:xfrm>
          <a:prstGeom prst="roundRect">
            <a:avLst>
              <a:gd name="adj" fmla="val 16667"/>
            </a:avLst>
          </a:prstGeom>
          <a:solidFill>
            <a:srgbClr val="fbf8f3"/>
          </a:solidFill>
          <a:ln w="25400">
            <a:solidFill>
              <a:srgbClr val="c0552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350" spc="-1" strike="noStrike">
                <a:solidFill>
                  <a:srgbClr val="15535f"/>
                </a:solidFill>
                <a:latin typeface="Calibri"/>
              </a:rPr>
              <a:t>Ranked referrers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c0552a"/>
                </a:solidFill>
                <a:latin typeface="Consolas"/>
              </a:rPr>
              <a:t>+ intro draft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15"/>
          <p:cNvSpPr/>
          <p:nvPr/>
        </p:nvSpPr>
        <p:spPr>
          <a:xfrm>
            <a:off x="548640" y="5212080"/>
            <a:ext cx="1097244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35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350" spc="-1" strike="noStrike">
                <a:solidFill>
                  <a:srgbClr val="15535f"/>
                </a:solidFill>
                <a:latin typeface="Calibri"/>
              </a:rPr>
              <a:t>React, Vite and Tailwind talking to Flask and SQLite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35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350" spc="-1" strike="noStrike">
                <a:solidFill>
                  <a:srgbClr val="15535f"/>
                </a:solidFill>
                <a:latin typeface="Calibri"/>
              </a:rPr>
              <a:t>DeepSeek parses the posting and drafts the intro message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35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350" spc="-1" strike="noStrike">
                <a:solidFill>
                  <a:srgbClr val="15535f"/>
                </a:solidFill>
                <a:latin typeface="Calibri"/>
              </a:rPr>
              <a:t>Matching in pure Python: TF-IDF cosine plus shared employer and campus scoring, swap the data source for a LinkedIn API and the engine is unchanged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16"/>
          <p:cNvSpPr/>
          <p:nvPr/>
        </p:nvSpPr>
        <p:spPr>
          <a:xfrm>
            <a:off x="11185920" y="6355080"/>
            <a:ext cx="6397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e6b6c"/>
                </a:solidFill>
                <a:latin typeface="Consolas"/>
              </a:rPr>
              <a:t>12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553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99" name="Picture 2" descr="logo_petrol.png"/>
          <p:cNvPicPr/>
          <p:nvPr/>
        </p:nvPicPr>
        <p:blipFill>
          <a:blip r:embed="rId1"/>
          <a:stretch/>
        </p:blipFill>
        <p:spPr>
          <a:xfrm>
            <a:off x="502920" y="41148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200" name="TextBox 3"/>
          <p:cNvSpPr/>
          <p:nvPr/>
        </p:nvSpPr>
        <p:spPr>
          <a:xfrm>
            <a:off x="941760" y="452160"/>
            <a:ext cx="41144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5535f"/>
                </a:solidFill>
                <a:latin typeface="Georgia"/>
              </a:rPr>
              <a:t>Refer</a:t>
            </a:r>
            <a:r>
              <a:rPr b="1" lang="en-US" sz="1500" spc="-1" strike="noStrike">
                <a:solidFill>
                  <a:srgbClr val="0e9384"/>
                </a:solidFill>
                <a:latin typeface="Georgia"/>
              </a:rPr>
              <a:t>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Box 4"/>
          <p:cNvSpPr/>
          <p:nvPr/>
        </p:nvSpPr>
        <p:spPr>
          <a:xfrm>
            <a:off x="548640" y="1051560"/>
            <a:ext cx="548604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00" spc="-1" strike="noStrike">
                <a:solidFill>
                  <a:srgbClr val="0e9384"/>
                </a:solidFill>
                <a:latin typeface="Consolas"/>
              </a:rPr>
              <a:t>KEY DIFFERENTIATOR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5"/>
          <p:cNvSpPr/>
          <p:nvPr/>
        </p:nvSpPr>
        <p:spPr>
          <a:xfrm>
            <a:off x="548640" y="1371600"/>
            <a:ext cx="11155320" cy="80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3000" spc="-1" strike="noStrike">
                <a:solidFill>
                  <a:srgbClr val="15535f"/>
                </a:solidFill>
                <a:latin typeface="Georgia"/>
              </a:rPr>
              <a:t>Not a Job Board. Not LinkedIn Search.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601"/>
              </a:spcAft>
            </a:pPr>
            <a:r>
              <a:rPr b="0" lang="en-US" sz="1450" spc="-1" strike="noStrike">
                <a:solidFill>
                  <a:srgbClr val="5e6b6c"/>
                </a:solidFill>
                <a:latin typeface="Calibri"/>
              </a:rPr>
              <a:t>ReferIn is the only tool that ranks insiders by your fit, writes the intro, and stops you contacting them twice.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3" name="Table 6"/>
          <p:cNvGraphicFramePr/>
          <p:nvPr/>
        </p:nvGraphicFramePr>
        <p:xfrm>
          <a:off x="640080" y="3063240"/>
          <a:ext cx="10881000" cy="2925720"/>
        </p:xfrm>
        <a:graphic>
          <a:graphicData uri="http://schemas.openxmlformats.org/drawingml/2006/table">
            <a:tbl>
              <a:tblPr/>
              <a:tblGrid>
                <a:gridCol w="4572000"/>
                <a:gridCol w="2103120"/>
                <a:gridCol w="2103120"/>
                <a:gridCol w="2103120"/>
              </a:tblGrid>
              <a:tr h="585000">
                <a:tc>
                  <a:txBody>
                    <a:bodyPr lIns="109440" rIns="73080"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2eee6"/>
                          </a:solidFill>
                          <a:latin typeface="Consolas"/>
                        </a:rPr>
                        <a:t>Capability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535f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2eee6"/>
                          </a:solidFill>
                          <a:latin typeface="Consolas"/>
                        </a:rPr>
                        <a:t>ReferIn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535f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2eee6"/>
                          </a:solidFill>
                          <a:latin typeface="Consolas"/>
                        </a:rPr>
                        <a:t>LinkedIn search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535f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2eee6"/>
                          </a:solidFill>
                          <a:latin typeface="Consolas"/>
                        </a:rPr>
                        <a:t>Cold applying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535f"/>
                    </a:solidFill>
                  </a:tcPr>
                </a:tc>
              </a:tr>
              <a:tr h="585000">
                <a:tc>
                  <a:txBody>
                    <a:bodyPr lIns="109440" rIns="73080"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15535f"/>
                          </a:solidFill>
                          <a:latin typeface="Calibri"/>
                        </a:rPr>
                        <a:t>Finds the right person inside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0e9384"/>
                          </a:solidFill>
                          <a:latin typeface="Calibri"/>
                        </a:rPr>
                        <a:t>✓ </a:t>
                      </a:r>
                      <a:r>
                        <a:rPr b="1" lang="en-US" sz="1300" spc="-1" strike="noStrike">
                          <a:solidFill>
                            <a:srgbClr val="0e9384"/>
                          </a:solidFill>
                          <a:latin typeface="Calibri"/>
                        </a:rPr>
                        <a:t>Yes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5e6b6c"/>
                          </a:solidFill>
                          <a:latin typeface="Calibri"/>
                        </a:rPr>
                        <a:t>✗ </a:t>
                      </a:r>
                      <a:r>
                        <a:rPr b="0" lang="en-US" sz="1250" spc="-1" strike="noStrike">
                          <a:solidFill>
                            <a:srgbClr val="5e6b6c"/>
                          </a:solidFill>
                          <a:latin typeface="Calibri"/>
                        </a:rPr>
                        <a:t>No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5e6b6c"/>
                          </a:solidFill>
                          <a:latin typeface="Calibri"/>
                        </a:rPr>
                        <a:t>✗ </a:t>
                      </a:r>
                      <a:r>
                        <a:rPr b="0" lang="en-US" sz="1250" spc="-1" strike="noStrike">
                          <a:solidFill>
                            <a:srgbClr val="5e6b6c"/>
                          </a:solidFill>
                          <a:latin typeface="Calibri"/>
                        </a:rPr>
                        <a:t>No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</a:tr>
              <a:tr h="585000">
                <a:tc>
                  <a:txBody>
                    <a:bodyPr lIns="109440" rIns="73080"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15535f"/>
                          </a:solidFill>
                          <a:latin typeface="Calibri"/>
                        </a:rPr>
                        <a:t>Ranks by how well they fit you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c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0e9384"/>
                          </a:solidFill>
                          <a:latin typeface="Calibri"/>
                        </a:rPr>
                        <a:t>✓ </a:t>
                      </a:r>
                      <a:r>
                        <a:rPr b="1" lang="en-US" sz="1300" spc="-1" strike="noStrike">
                          <a:solidFill>
                            <a:srgbClr val="0e9384"/>
                          </a:solidFill>
                          <a:latin typeface="Calibri"/>
                        </a:rPr>
                        <a:t>Yes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5e6b6c"/>
                          </a:solidFill>
                          <a:latin typeface="Calibri"/>
                        </a:rPr>
                        <a:t>✗ </a:t>
                      </a:r>
                      <a:r>
                        <a:rPr b="0" lang="en-US" sz="1250" spc="-1" strike="noStrike">
                          <a:solidFill>
                            <a:srgbClr val="5e6b6c"/>
                          </a:solidFill>
                          <a:latin typeface="Calibri"/>
                        </a:rPr>
                        <a:t>No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c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5e6b6c"/>
                          </a:solidFill>
                          <a:latin typeface="Calibri"/>
                        </a:rPr>
                        <a:t>✗ </a:t>
                      </a:r>
                      <a:r>
                        <a:rPr b="0" lang="en-US" sz="1250" spc="-1" strike="noStrike">
                          <a:solidFill>
                            <a:srgbClr val="5e6b6c"/>
                          </a:solidFill>
                          <a:latin typeface="Calibri"/>
                        </a:rPr>
                        <a:t>No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c"/>
                    </a:solidFill>
                  </a:tcPr>
                </a:tc>
              </a:tr>
              <a:tr h="585000">
                <a:tc>
                  <a:txBody>
                    <a:bodyPr lIns="109440" rIns="73080"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15535f"/>
                          </a:solidFill>
                          <a:latin typeface="Calibri"/>
                        </a:rPr>
                        <a:t>Drafts your outreach for you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0e9384"/>
                          </a:solidFill>
                          <a:latin typeface="Calibri"/>
                        </a:rPr>
                        <a:t>✓ </a:t>
                      </a:r>
                      <a:r>
                        <a:rPr b="1" lang="en-US" sz="1300" spc="-1" strike="noStrike">
                          <a:solidFill>
                            <a:srgbClr val="0e9384"/>
                          </a:solidFill>
                          <a:latin typeface="Calibri"/>
                        </a:rPr>
                        <a:t>Yes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5e6b6c"/>
                          </a:solidFill>
                          <a:latin typeface="Calibri"/>
                        </a:rPr>
                        <a:t>✗ </a:t>
                      </a:r>
                      <a:r>
                        <a:rPr b="0" lang="en-US" sz="1250" spc="-1" strike="noStrike">
                          <a:solidFill>
                            <a:srgbClr val="5e6b6c"/>
                          </a:solidFill>
                          <a:latin typeface="Calibri"/>
                        </a:rPr>
                        <a:t>No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5e6b6c"/>
                          </a:solidFill>
                          <a:latin typeface="Calibri"/>
                        </a:rPr>
                        <a:t>✗ </a:t>
                      </a:r>
                      <a:r>
                        <a:rPr b="0" lang="en-US" sz="1250" spc="-1" strike="noStrike">
                          <a:solidFill>
                            <a:srgbClr val="5e6b6c"/>
                          </a:solidFill>
                          <a:latin typeface="Calibri"/>
                        </a:rPr>
                        <a:t>No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</a:tr>
              <a:tr h="585000">
                <a:tc>
                  <a:txBody>
                    <a:bodyPr lIns="109440" rIns="73080"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15535f"/>
                          </a:solidFill>
                          <a:latin typeface="Calibri"/>
                        </a:rPr>
                        <a:t>Prevents duplicate outreach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c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0e9384"/>
                          </a:solidFill>
                          <a:latin typeface="Calibri"/>
                        </a:rPr>
                        <a:t>✓ </a:t>
                      </a:r>
                      <a:r>
                        <a:rPr b="1" lang="en-US" sz="1300" spc="-1" strike="noStrike">
                          <a:solidFill>
                            <a:srgbClr val="0e9384"/>
                          </a:solidFill>
                          <a:latin typeface="Calibri"/>
                        </a:rPr>
                        <a:t>Yes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5e6b6c"/>
                          </a:solidFill>
                          <a:latin typeface="Calibri"/>
                        </a:rPr>
                        <a:t>✗ </a:t>
                      </a:r>
                      <a:r>
                        <a:rPr b="0" lang="en-US" sz="1250" spc="-1" strike="noStrike">
                          <a:solidFill>
                            <a:srgbClr val="5e6b6c"/>
                          </a:solidFill>
                          <a:latin typeface="Calibri"/>
                        </a:rPr>
                        <a:t>No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c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50" spc="-1" strike="noStrike">
                          <a:solidFill>
                            <a:srgbClr val="5e6b6c"/>
                          </a:solidFill>
                          <a:latin typeface="Calibri"/>
                        </a:rPr>
                        <a:t>✗ </a:t>
                      </a:r>
                      <a:r>
                        <a:rPr b="0" lang="en-US" sz="1250" spc="-1" strike="noStrike">
                          <a:solidFill>
                            <a:srgbClr val="5e6b6c"/>
                          </a:solidFill>
                          <a:latin typeface="Calibri"/>
                        </a:rPr>
                        <a:t>No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73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c"/>
                    </a:solidFill>
                  </a:tcPr>
                </a:tc>
              </a:tr>
            </a:tbl>
          </a:graphicData>
        </a:graphic>
      </p:graphicFrame>
      <p:sp>
        <p:nvSpPr>
          <p:cNvPr id="204" name="TextBox 7"/>
          <p:cNvSpPr/>
          <p:nvPr/>
        </p:nvSpPr>
        <p:spPr>
          <a:xfrm>
            <a:off x="11185920" y="6355080"/>
            <a:ext cx="6397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e6b6c"/>
                </a:solidFill>
                <a:latin typeface="Consolas"/>
              </a:rPr>
              <a:t>13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553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06" name="Picture 2" descr="logo_petrol.png"/>
          <p:cNvPicPr/>
          <p:nvPr/>
        </p:nvPicPr>
        <p:blipFill>
          <a:blip r:embed="rId1"/>
          <a:stretch/>
        </p:blipFill>
        <p:spPr>
          <a:xfrm>
            <a:off x="502920" y="41148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207" name="TextBox 3"/>
          <p:cNvSpPr/>
          <p:nvPr/>
        </p:nvSpPr>
        <p:spPr>
          <a:xfrm>
            <a:off x="941760" y="452160"/>
            <a:ext cx="41144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5535f"/>
                </a:solidFill>
                <a:latin typeface="Georgia"/>
              </a:rPr>
              <a:t>Refer</a:t>
            </a:r>
            <a:r>
              <a:rPr b="1" lang="en-US" sz="1500" spc="-1" strike="noStrike">
                <a:solidFill>
                  <a:srgbClr val="0e9384"/>
                </a:solidFill>
                <a:latin typeface="Georgia"/>
              </a:rPr>
              <a:t>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4"/>
          <p:cNvSpPr/>
          <p:nvPr/>
        </p:nvSpPr>
        <p:spPr>
          <a:xfrm>
            <a:off x="548640" y="1051560"/>
            <a:ext cx="548604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00" spc="-1" strike="noStrike">
                <a:solidFill>
                  <a:srgbClr val="0e9384"/>
                </a:solidFill>
                <a:latin typeface="Consolas"/>
              </a:rPr>
              <a:t>MARKET, MODEL AND WHAT IS NEXT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5"/>
          <p:cNvSpPr/>
          <p:nvPr/>
        </p:nvSpPr>
        <p:spPr>
          <a:xfrm>
            <a:off x="548640" y="1371600"/>
            <a:ext cx="10972440" cy="8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3200" spc="-1" strike="noStrike">
                <a:solidFill>
                  <a:srgbClr val="15535f"/>
                </a:solidFill>
                <a:latin typeface="Georgia"/>
              </a:rPr>
              <a:t>Big Market, Clear Path Forward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601"/>
              </a:spcAft>
            </a:pPr>
            <a:r>
              <a:rPr b="0" lang="en-US" sz="1450" spc="-1" strike="noStrike">
                <a:solidFill>
                  <a:srgbClr val="5e6b6c"/>
                </a:solidFill>
                <a:latin typeface="Calibri"/>
              </a:rPr>
              <a:t>ReferIn serves a worldwide pool of job seekers and grows into a two sided referral network.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Rounded Rectangle 6"/>
          <p:cNvSpPr/>
          <p:nvPr/>
        </p:nvSpPr>
        <p:spPr>
          <a:xfrm>
            <a:off x="548640" y="3017520"/>
            <a:ext cx="5211720" cy="3108600"/>
          </a:xfrm>
          <a:prstGeom prst="roundRect">
            <a:avLst>
              <a:gd name="adj" fmla="val 16667"/>
            </a:avLst>
          </a:prstGeom>
          <a:solidFill>
            <a:srgbClr val="fbf8f3"/>
          </a:solidFill>
          <a:ln w="12700">
            <a:solidFill>
              <a:srgbClr val="ddd6c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TextBox 7"/>
          <p:cNvSpPr/>
          <p:nvPr/>
        </p:nvSpPr>
        <p:spPr>
          <a:xfrm>
            <a:off x="868680" y="3291840"/>
            <a:ext cx="4663080" cy="12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1001"/>
              </a:spcAft>
            </a:pPr>
            <a:r>
              <a:rPr b="1" lang="en-US" sz="1100" spc="-1" strike="noStrike">
                <a:solidFill>
                  <a:srgbClr val="0e9384"/>
                </a:solidFill>
                <a:latin typeface="Consolas"/>
              </a:rPr>
              <a:t>WHO IT IS FOR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Students, new grads and switchers without an in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A worldwide pool of job seekers, with a strong pull in India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40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400" spc="-1" strike="noStrike">
                <a:solidFill>
                  <a:srgbClr val="15535f"/>
                </a:solidFill>
                <a:latin typeface="Calibri"/>
              </a:rPr>
              <a:t>Anyone who would rather get referred than apply cold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ounded Rectangle 8"/>
          <p:cNvSpPr/>
          <p:nvPr/>
        </p:nvSpPr>
        <p:spPr>
          <a:xfrm>
            <a:off x="6035040" y="3017520"/>
            <a:ext cx="5486040" cy="3108600"/>
          </a:xfrm>
          <a:prstGeom prst="roundRect">
            <a:avLst>
              <a:gd name="adj" fmla="val 16667"/>
            </a:avLst>
          </a:prstGeom>
          <a:solidFill>
            <a:srgbClr val="fbf8f3"/>
          </a:solidFill>
          <a:ln w="12700">
            <a:solidFill>
              <a:srgbClr val="ddd6c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TextBox 9"/>
          <p:cNvSpPr/>
          <p:nvPr/>
        </p:nvSpPr>
        <p:spPr>
          <a:xfrm>
            <a:off x="6355080" y="3291840"/>
            <a:ext cx="493740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00" spc="-1" strike="noStrike">
                <a:solidFill>
                  <a:srgbClr val="c0552a"/>
                </a:solidFill>
                <a:latin typeface="Consolas"/>
              </a:rPr>
              <a:t>ROADMAP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Rounded Rectangle 10"/>
          <p:cNvSpPr/>
          <p:nvPr/>
        </p:nvSpPr>
        <p:spPr>
          <a:xfrm>
            <a:off x="6400800" y="3849480"/>
            <a:ext cx="200880" cy="200880"/>
          </a:xfrm>
          <a:prstGeom prst="roundRect">
            <a:avLst>
              <a:gd name="adj" fmla="val 16667"/>
            </a:avLst>
          </a:prstGeom>
          <a:solidFill>
            <a:srgbClr val="0e938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" name="TextBox 11"/>
          <p:cNvSpPr/>
          <p:nvPr/>
        </p:nvSpPr>
        <p:spPr>
          <a:xfrm>
            <a:off x="6812280" y="3794760"/>
            <a:ext cx="44802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0e9384"/>
                </a:solidFill>
                <a:latin typeface="Georgia"/>
              </a:rPr>
              <a:t>Now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5e6b6c"/>
                </a:solidFill>
                <a:latin typeface="Calibri"/>
              </a:rPr>
              <a:t>Free product, live search, scoring, drafting and tracking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ounded Rectangle 12"/>
          <p:cNvSpPr/>
          <p:nvPr/>
        </p:nvSpPr>
        <p:spPr>
          <a:xfrm>
            <a:off x="6400800" y="4608720"/>
            <a:ext cx="200880" cy="200880"/>
          </a:xfrm>
          <a:prstGeom prst="roundRect">
            <a:avLst>
              <a:gd name="adj" fmla="val 16667"/>
            </a:avLst>
          </a:prstGeom>
          <a:solidFill>
            <a:srgbClr val="1553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13"/>
          <p:cNvSpPr/>
          <p:nvPr/>
        </p:nvSpPr>
        <p:spPr>
          <a:xfrm>
            <a:off x="6812280" y="4553640"/>
            <a:ext cx="44802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15535f"/>
                </a:solidFill>
                <a:latin typeface="Georgia"/>
              </a:rPr>
              <a:t>Next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5e6b6c"/>
                </a:solidFill>
                <a:latin typeface="Calibri"/>
              </a:rPr>
              <a:t>Pro tier plus employer referral tools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Rounded Rectangle 14"/>
          <p:cNvSpPr/>
          <p:nvPr/>
        </p:nvSpPr>
        <p:spPr>
          <a:xfrm>
            <a:off x="6400800" y="5367600"/>
            <a:ext cx="200880" cy="200880"/>
          </a:xfrm>
          <a:prstGeom prst="roundRect">
            <a:avLst>
              <a:gd name="adj" fmla="val 16667"/>
            </a:avLst>
          </a:prstGeom>
          <a:solidFill>
            <a:srgbClr val="c055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TextBox 15"/>
          <p:cNvSpPr/>
          <p:nvPr/>
        </p:nvSpPr>
        <p:spPr>
          <a:xfrm>
            <a:off x="6812280" y="5312520"/>
            <a:ext cx="44802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400" spc="-1" strike="noStrike">
                <a:solidFill>
                  <a:srgbClr val="c0552a"/>
                </a:solidFill>
                <a:latin typeface="Georgia"/>
              </a:rPr>
              <a:t>Later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5e6b6c"/>
                </a:solidFill>
                <a:latin typeface="Calibri"/>
              </a:rPr>
              <a:t>Opt in referrers, verified alumni paths, response tracking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16"/>
          <p:cNvSpPr/>
          <p:nvPr/>
        </p:nvSpPr>
        <p:spPr>
          <a:xfrm>
            <a:off x="11185920" y="6355080"/>
            <a:ext cx="6397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e6b6c"/>
                </a:solidFill>
                <a:latin typeface="Consolas"/>
              </a:rPr>
              <a:t>14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553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22" name="Picture 2" descr="logo_petrol.png"/>
          <p:cNvPicPr/>
          <p:nvPr/>
        </p:nvPicPr>
        <p:blipFill>
          <a:blip r:embed="rId1"/>
          <a:stretch/>
        </p:blipFill>
        <p:spPr>
          <a:xfrm>
            <a:off x="502920" y="41148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223" name="TextBox 3"/>
          <p:cNvSpPr/>
          <p:nvPr/>
        </p:nvSpPr>
        <p:spPr>
          <a:xfrm>
            <a:off x="941760" y="452160"/>
            <a:ext cx="41144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5535f"/>
                </a:solidFill>
                <a:latin typeface="Georgia"/>
              </a:rPr>
              <a:t>Refer</a:t>
            </a:r>
            <a:r>
              <a:rPr b="1" lang="en-US" sz="1500" spc="-1" strike="noStrike">
                <a:solidFill>
                  <a:srgbClr val="0e9384"/>
                </a:solidFill>
                <a:latin typeface="Georgia"/>
              </a:rPr>
              <a:t>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Box 4"/>
          <p:cNvSpPr/>
          <p:nvPr/>
        </p:nvSpPr>
        <p:spPr>
          <a:xfrm>
            <a:off x="548640" y="1051560"/>
            <a:ext cx="548604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00" spc="-1" strike="noStrike">
                <a:solidFill>
                  <a:srgbClr val="0e9384"/>
                </a:solidFill>
                <a:latin typeface="Consolas"/>
              </a:rPr>
              <a:t>A TWO-SIDED NETWORK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Box 5"/>
          <p:cNvSpPr/>
          <p:nvPr/>
        </p:nvSpPr>
        <p:spPr>
          <a:xfrm>
            <a:off x="548640" y="1371600"/>
            <a:ext cx="11155320" cy="8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3200" spc="-1" strike="noStrike">
                <a:solidFill>
                  <a:srgbClr val="15535f"/>
                </a:solidFill>
                <a:latin typeface="Georgia"/>
              </a:rPr>
              <a:t>Good for Referrers, Too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601"/>
              </a:spcAft>
            </a:pPr>
            <a:r>
              <a:rPr b="0" lang="en-US" sz="1450" spc="-1" strike="noStrike">
                <a:solidFill>
                  <a:srgbClr val="5e6b6c"/>
                </a:solidFill>
                <a:latin typeface="Calibri"/>
              </a:rPr>
              <a:t>ReferIn is not only for job seekers. The employees who refer win as well, and that is what makes the network grow.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Rounded Rectangle 6"/>
          <p:cNvSpPr/>
          <p:nvPr/>
        </p:nvSpPr>
        <p:spPr>
          <a:xfrm>
            <a:off x="548640" y="2971800"/>
            <a:ext cx="5440320" cy="3154320"/>
          </a:xfrm>
          <a:prstGeom prst="roundRect">
            <a:avLst>
              <a:gd name="adj" fmla="val 16667"/>
            </a:avLst>
          </a:prstGeom>
          <a:solidFill>
            <a:srgbClr val="fbf8f3"/>
          </a:solidFill>
          <a:ln w="12700">
            <a:solidFill>
              <a:srgbClr val="ddd6c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TextBox 7"/>
          <p:cNvSpPr/>
          <p:nvPr/>
        </p:nvSpPr>
        <p:spPr>
          <a:xfrm>
            <a:off x="868680" y="3246120"/>
            <a:ext cx="4891680" cy="15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1001"/>
              </a:spcAft>
            </a:pPr>
            <a:r>
              <a:rPr b="1" lang="en-US" sz="1100" spc="-1" strike="noStrike">
                <a:solidFill>
                  <a:srgbClr val="0e9384"/>
                </a:solidFill>
                <a:latin typeface="Consolas"/>
              </a:rPr>
              <a:t>FOR CANDIDATES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35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350" spc="-1" strike="noStrike">
                <a:solidFill>
                  <a:srgbClr val="15535f"/>
                </a:solidFill>
                <a:latin typeface="Calibri"/>
              </a:rPr>
              <a:t>A warm intro instead of the application void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35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350" spc="-1" strike="noStrike">
                <a:solidFill>
                  <a:srgbClr val="15535f"/>
                </a:solidFill>
                <a:latin typeface="Calibri"/>
              </a:rPr>
              <a:t>Ranked by real fit and real relationships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35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350" spc="-1" strike="noStrike">
                <a:solidFill>
                  <a:srgbClr val="15535f"/>
                </a:solidFill>
                <a:latin typeface="Calibri"/>
              </a:rPr>
              <a:t>A tailored message, already written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35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350" spc="-1" strike="noStrike">
                <a:solidFill>
                  <a:srgbClr val="15535f"/>
                </a:solidFill>
                <a:latin typeface="Calibri"/>
              </a:rPr>
              <a:t>Never the same person contacted twice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Rounded Rectangle 8"/>
          <p:cNvSpPr/>
          <p:nvPr/>
        </p:nvSpPr>
        <p:spPr>
          <a:xfrm>
            <a:off x="6126480" y="2971800"/>
            <a:ext cx="5440320" cy="3154320"/>
          </a:xfrm>
          <a:prstGeom prst="roundRect">
            <a:avLst>
              <a:gd name="adj" fmla="val 16667"/>
            </a:avLst>
          </a:prstGeom>
          <a:solidFill>
            <a:srgbClr val="e4f2ec"/>
          </a:solidFill>
          <a:ln w="12700">
            <a:solidFill>
              <a:srgbClr val="0e938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TextBox 9"/>
          <p:cNvSpPr/>
          <p:nvPr/>
        </p:nvSpPr>
        <p:spPr>
          <a:xfrm>
            <a:off x="6446520" y="3246120"/>
            <a:ext cx="4891680" cy="174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1001"/>
              </a:spcAft>
            </a:pPr>
            <a:r>
              <a:rPr b="1" lang="en-US" sz="1100" spc="-1" strike="noStrike">
                <a:solidFill>
                  <a:srgbClr val="c0552a"/>
                </a:solidFill>
                <a:latin typeface="Consolas"/>
              </a:rPr>
              <a:t>FOR REFERRERS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35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350" spc="-1" strike="noStrike">
                <a:solidFill>
                  <a:srgbClr val="15535f"/>
                </a:solidFill>
                <a:latin typeface="Calibri"/>
              </a:rPr>
              <a:t>Pre-qualified, high-fit candidates land in their inbox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35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350" spc="-1" strike="noStrike">
                <a:solidFill>
                  <a:srgbClr val="15535f"/>
                </a:solidFill>
                <a:latin typeface="Calibri"/>
              </a:rPr>
              <a:t>Companies already pay a referral bonus, often a thousand dollars or more, per successful hire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35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350" spc="-1" strike="noStrike">
                <a:solidFill>
                  <a:srgbClr val="15535f"/>
                </a:solidFill>
                <a:latin typeface="Calibri"/>
              </a:rPr>
              <a:t>Less time wasted and less reputation risk on a weak referral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Bef>
                <a:spcPts val="700"/>
              </a:spcBef>
            </a:pPr>
            <a:r>
              <a:rPr b="1" lang="en-US" sz="1350" spc="-1" strike="noStrike">
                <a:solidFill>
                  <a:srgbClr val="0e9384"/>
                </a:solidFill>
                <a:latin typeface="Calibri"/>
              </a:rPr>
              <a:t>▸  </a:t>
            </a:r>
            <a:r>
              <a:rPr b="0" lang="en-US" sz="1350" spc="-1" strike="noStrike">
                <a:solidFill>
                  <a:srgbClr val="15535f"/>
                </a:solidFill>
                <a:latin typeface="Calibri"/>
              </a:rPr>
              <a:t>They earn it with one click, so they keep coming back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10"/>
          <p:cNvSpPr/>
          <p:nvPr/>
        </p:nvSpPr>
        <p:spPr>
          <a:xfrm>
            <a:off x="548640" y="6355080"/>
            <a:ext cx="10972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15535f"/>
                </a:solidFill>
                <a:latin typeface="Calibri"/>
              </a:rPr>
              <a:t>Every accepted referral pays the employee and opens a door for a candidate. Both sides compound.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11"/>
          <p:cNvSpPr/>
          <p:nvPr/>
        </p:nvSpPr>
        <p:spPr>
          <a:xfrm>
            <a:off x="11185920" y="6355080"/>
            <a:ext cx="6397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5e6b6c"/>
                </a:solidFill>
                <a:latin typeface="Consolas"/>
              </a:rPr>
              <a:t>15 / 16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53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1"/>
          <p:cNvSpPr/>
          <p:nvPr/>
        </p:nvSpPr>
        <p:spPr>
          <a:xfrm>
            <a:off x="0" y="6035040"/>
            <a:ext cx="12191400" cy="822600"/>
          </a:xfrm>
          <a:prstGeom prst="rect">
            <a:avLst/>
          </a:prstGeom>
          <a:solidFill>
            <a:srgbClr val="104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33" name="Picture 2" descr="logo_light.png"/>
          <p:cNvPicPr/>
          <p:nvPr/>
        </p:nvPicPr>
        <p:blipFill>
          <a:blip r:embed="rId1"/>
          <a:stretch/>
        </p:blipFill>
        <p:spPr>
          <a:xfrm>
            <a:off x="640080" y="50292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234" name="TextBox 3"/>
          <p:cNvSpPr/>
          <p:nvPr/>
        </p:nvSpPr>
        <p:spPr>
          <a:xfrm>
            <a:off x="1225440" y="570960"/>
            <a:ext cx="411444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f2eee6"/>
                </a:solidFill>
                <a:latin typeface="Georgia"/>
              </a:rPr>
              <a:t>Refer</a:t>
            </a:r>
            <a:r>
              <a:rPr b="1" lang="en-US" sz="2100" spc="-1" strike="noStrike">
                <a:solidFill>
                  <a:srgbClr val="0e9384"/>
                </a:solidFill>
                <a:latin typeface="Georgia"/>
              </a:rPr>
              <a:t>In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Box 4"/>
          <p:cNvSpPr/>
          <p:nvPr/>
        </p:nvSpPr>
        <p:spPr>
          <a:xfrm>
            <a:off x="658440" y="960120"/>
            <a:ext cx="548604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00" spc="-1" strike="noStrike">
                <a:solidFill>
                  <a:srgbClr val="0e9384"/>
                </a:solidFill>
                <a:latin typeface="Consolas"/>
              </a:rPr>
              <a:t>TEAM AND CALL TO ACTION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Box 5"/>
          <p:cNvSpPr/>
          <p:nvPr/>
        </p:nvSpPr>
        <p:spPr>
          <a:xfrm>
            <a:off x="640080" y="2286000"/>
            <a:ext cx="10972440" cy="14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98000"/>
              </a:lnSpc>
            </a:pPr>
            <a:r>
              <a:rPr b="1" lang="en-US" sz="5000" spc="-1" strike="noStrike">
                <a:solidFill>
                  <a:srgbClr val="f2eee6"/>
                </a:solidFill>
                <a:latin typeface="Georgia"/>
              </a:rPr>
              <a:t>Try ReferIn.</a:t>
            </a:r>
            <a:endParaRPr b="0" lang="en-US" sz="5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98000"/>
              </a:lnSpc>
            </a:pPr>
            <a:r>
              <a:rPr b="1" lang="en-US" sz="5000" spc="-1" strike="noStrike">
                <a:solidFill>
                  <a:srgbClr val="0e9384"/>
                </a:solidFill>
                <a:latin typeface="Georgia"/>
              </a:rPr>
              <a:t>Get Referred In.</a:t>
            </a:r>
            <a:endParaRPr b="0" lang="en-US" sz="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Box 6"/>
          <p:cNvSpPr/>
          <p:nvPr/>
        </p:nvSpPr>
        <p:spPr>
          <a:xfrm>
            <a:off x="658440" y="4297680"/>
            <a:ext cx="1051524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c7d6d4"/>
                </a:solidFill>
                <a:latin typeface="Calibri"/>
              </a:rPr>
              <a:t>Built end to end during the hackathon by Team Ori. Live and working today.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Box 7"/>
          <p:cNvSpPr/>
          <p:nvPr/>
        </p:nvSpPr>
        <p:spPr>
          <a:xfrm>
            <a:off x="658440" y="5029200"/>
            <a:ext cx="548604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1100" spc="-1" strike="noStrike">
                <a:solidFill>
                  <a:srgbClr val="0e9384"/>
                </a:solidFill>
                <a:latin typeface="Consolas"/>
              </a:rPr>
              <a:t>TEAM ORI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Rounded Rectangle 9"/>
          <p:cNvSpPr/>
          <p:nvPr/>
        </p:nvSpPr>
        <p:spPr>
          <a:xfrm>
            <a:off x="658440" y="5394960"/>
            <a:ext cx="2109960" cy="914040"/>
          </a:xfrm>
          <a:prstGeom prst="roundRect">
            <a:avLst>
              <a:gd name="adj" fmla="val 16667"/>
            </a:avLst>
          </a:prstGeom>
          <a:solidFill>
            <a:srgbClr val="104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300" spc="-1" strike="noStrike">
                <a:solidFill>
                  <a:srgbClr val="f2eee6"/>
                </a:solidFill>
                <a:latin typeface="Georgia"/>
              </a:rPr>
              <a:t>Breeti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c7d6d4"/>
                </a:solidFill>
                <a:latin typeface="Calibri"/>
              </a:rPr>
              <a:t>Bandyopadhyay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Rounded Rectangle 10"/>
          <p:cNvSpPr/>
          <p:nvPr/>
        </p:nvSpPr>
        <p:spPr>
          <a:xfrm>
            <a:off x="2915280" y="5394960"/>
            <a:ext cx="2109960" cy="914040"/>
          </a:xfrm>
          <a:prstGeom prst="roundRect">
            <a:avLst>
              <a:gd name="adj" fmla="val 16667"/>
            </a:avLst>
          </a:prstGeom>
          <a:solidFill>
            <a:srgbClr val="104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300" spc="-1" strike="noStrike">
                <a:solidFill>
                  <a:srgbClr val="f2eee6"/>
                </a:solidFill>
                <a:latin typeface="Georgia"/>
              </a:rPr>
              <a:t>Unnati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c7d6d4"/>
                </a:solidFill>
                <a:latin typeface="Calibri"/>
              </a:rPr>
              <a:t>Joshi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Rounded Rectangle 11"/>
          <p:cNvSpPr/>
          <p:nvPr/>
        </p:nvSpPr>
        <p:spPr>
          <a:xfrm>
            <a:off x="5171760" y="5394960"/>
            <a:ext cx="2109960" cy="914040"/>
          </a:xfrm>
          <a:prstGeom prst="roundRect">
            <a:avLst>
              <a:gd name="adj" fmla="val 16667"/>
            </a:avLst>
          </a:prstGeom>
          <a:solidFill>
            <a:srgbClr val="104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300" spc="-1" strike="noStrike">
                <a:solidFill>
                  <a:srgbClr val="f2eee6"/>
                </a:solidFill>
                <a:latin typeface="Georgia"/>
              </a:rPr>
              <a:t>Aishwarya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c7d6d4"/>
                </a:solidFill>
                <a:latin typeface="Calibri"/>
              </a:rPr>
              <a:t>Mol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Rounded Rectangle 12"/>
          <p:cNvSpPr/>
          <p:nvPr/>
        </p:nvSpPr>
        <p:spPr>
          <a:xfrm>
            <a:off x="7428600" y="5394960"/>
            <a:ext cx="2109960" cy="914040"/>
          </a:xfrm>
          <a:prstGeom prst="roundRect">
            <a:avLst>
              <a:gd name="adj" fmla="val 16667"/>
            </a:avLst>
          </a:prstGeom>
          <a:solidFill>
            <a:srgbClr val="104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300" spc="-1" strike="noStrike">
                <a:solidFill>
                  <a:srgbClr val="f2eee6"/>
                </a:solidFill>
                <a:latin typeface="Georgia"/>
              </a:rPr>
              <a:t>Mishti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c7d6d4"/>
                </a:solidFill>
                <a:latin typeface="Calibri"/>
              </a:rPr>
              <a:t>Kinker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Rounded Rectangle 13"/>
          <p:cNvSpPr/>
          <p:nvPr/>
        </p:nvSpPr>
        <p:spPr>
          <a:xfrm>
            <a:off x="9685440" y="5394960"/>
            <a:ext cx="2109960" cy="914040"/>
          </a:xfrm>
          <a:prstGeom prst="roundRect">
            <a:avLst>
              <a:gd name="adj" fmla="val 16667"/>
            </a:avLst>
          </a:prstGeom>
          <a:solidFill>
            <a:srgbClr val="1046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300" spc="-1" strike="noStrike">
                <a:solidFill>
                  <a:srgbClr val="f2eee6"/>
                </a:solidFill>
                <a:latin typeface="Georgia"/>
              </a:rPr>
              <a:t>Mohana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50" spc="-1" strike="noStrike">
                <a:solidFill>
                  <a:srgbClr val="f2eee6"/>
                </a:solidFill>
                <a:latin typeface="Georgia"/>
              </a:rPr>
              <a:t>Madala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Box 14"/>
          <p:cNvSpPr/>
          <p:nvPr/>
        </p:nvSpPr>
        <p:spPr>
          <a:xfrm>
            <a:off x="11185920" y="6355080"/>
            <a:ext cx="6397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b="0" lang="en-US" sz="900" spc="-1" strike="noStrike">
                <a:solidFill>
                  <a:srgbClr val="f2eee6"/>
                </a:solidFill>
                <a:latin typeface="Consolas"/>
              </a:rPr>
              <a:t>16 / 16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2026-06-01T22:03:12Z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